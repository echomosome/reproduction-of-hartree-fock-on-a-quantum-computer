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9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raw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numRef>
              <c:f>{1,2,3,4,5,6,7,8}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{1.01934236602748,1.00328617856915,0.98667243862413,0.970612860968934,0.0326063229348121,0.0084008110188199,0.00634092465028979,-0.0272619027936118}</c:f>
              <c:numCache>
                <c:formatCode>0.0</c:formatCode>
                <c:ptCount val="8"/>
                <c:pt idx="0">
                  <c:v>1.0193423660274801</c:v>
                </c:pt>
                <c:pt idx="1">
                  <c:v>1.00328617856915</c:v>
                </c:pt>
                <c:pt idx="2">
                  <c:v>0.98667243862413001</c:v>
                </c:pt>
                <c:pt idx="3">
                  <c:v>0.97061286096893395</c:v>
                </c:pt>
                <c:pt idx="4">
                  <c:v>3.2606322934812103E-2</c:v>
                </c:pt>
                <c:pt idx="5">
                  <c:v>8.4008110188198998E-3</c:v>
                </c:pt>
                <c:pt idx="6">
                  <c:v>6.3409246502897903E-3</c:v>
                </c:pt>
                <c:pt idx="7">
                  <c:v>-2.7261902793611799E-2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2-4C70-930F-9EDA832DA8C9}"/>
            </c:ext>
          </c:extLst>
        </c:ser>
        <c:ser>
          <c:idx val="1"/>
          <c:order val="1"/>
          <c:tx>
            <c:strRef>
              <c:f>ideal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B8BEC8"/>
            </a:solidFill>
          </c:spPr>
          <c:invertIfNegative val="0"/>
          <c:cat>
            <c:numRef>
              <c:f>{1,2,3,4,5,6,7,8}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{1.00000000000023,1.00000000000009,0.999999999999948,0.999999999999797,3.1626905912871e-13,5.84945392501631e-14,-1.09140191522102e-13,-3.33215761067265e-13}</c:f>
              <c:numCache>
                <c:formatCode>0.0</c:formatCode>
                <c:ptCount val="8"/>
                <c:pt idx="0">
                  <c:v>1.00000000000023</c:v>
                </c:pt>
                <c:pt idx="1">
                  <c:v>1.0000000000000899</c:v>
                </c:pt>
                <c:pt idx="2">
                  <c:v>0.99999999999994804</c:v>
                </c:pt>
                <c:pt idx="3">
                  <c:v>0.99999999999979705</c:v>
                </c:pt>
                <c:pt idx="4">
                  <c:v>3.1626905912870999E-13</c:v>
                </c:pt>
                <c:pt idx="5">
                  <c:v>5.8494539250163099E-14</c:v>
                </c:pt>
                <c:pt idx="6">
                  <c:v>-1.09140191522102E-13</c:v>
                </c:pt>
                <c:pt idx="7">
                  <c:v>-3.3321576106726501E-13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82-4C70-930F-9EDA832DA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.1000000000000001"/>
          <c:min val="-0.1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4079514-fc5e-4adb-8bc8-4f56052847cd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observed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strRef>
              <c:f>{"Z","P0e","P0o","P1e","P1o","P2e","P2o","P3e","P3o"}</c:f>
              <c:strCache>
                <c:ptCount val="9"/>
                <c:pt idx="0">
                  <c:v>Z</c:v>
                </c:pt>
                <c:pt idx="1">
                  <c:v>P0e</c:v>
                </c:pt>
                <c:pt idx="2">
                  <c:v>P0o</c:v>
                </c:pt>
                <c:pt idx="3">
                  <c:v>P1e</c:v>
                </c:pt>
                <c:pt idx="4">
                  <c:v>P1o</c:v>
                </c:pt>
                <c:pt idx="5">
                  <c:v>P2e</c:v>
                </c:pt>
                <c:pt idx="6">
                  <c:v>P2o</c:v>
                </c:pt>
                <c:pt idx="7">
                  <c:v>P3e</c:v>
                </c:pt>
                <c:pt idx="8">
                  <c:v>P3o</c:v>
                </c:pt>
              </c:strCache>
            </c:strRef>
          </c:cat>
          <c:val>
            <c:numRef>
              <c:f>{0.039281267847034,0.0516288791833794,0.0521202331967961,0.0606366514346528,0.0538987489979527,0.0495411829219943,0.0742533035211001,0.0431521897636871,0.055692778503055}</c:f>
              <c:numCache>
                <c:formatCode>0.00</c:formatCode>
                <c:ptCount val="9"/>
                <c:pt idx="0">
                  <c:v>3.9281267847034E-2</c:v>
                </c:pt>
                <c:pt idx="1">
                  <c:v>5.1628879183379398E-2</c:v>
                </c:pt>
                <c:pt idx="2">
                  <c:v>5.2120233196796102E-2</c:v>
                </c:pt>
                <c:pt idx="3">
                  <c:v>6.06366514346528E-2</c:v>
                </c:pt>
                <c:pt idx="4">
                  <c:v>5.3898748997952703E-2</c:v>
                </c:pt>
                <c:pt idx="5">
                  <c:v>4.9541182921994303E-2</c:v>
                </c:pt>
                <c:pt idx="6">
                  <c:v>7.42533035211001E-2</c:v>
                </c:pt>
                <c:pt idx="7">
                  <c:v>4.31521897636871E-2</c:v>
                </c:pt>
                <c:pt idx="8">
                  <c:v>5.5692778503054999E-2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9-4D76-B1F3-E20CF8924801}"/>
            </c:ext>
          </c:extLst>
        </c:ser>
        <c:ser>
          <c:idx val="1"/>
          <c:order val="1"/>
          <c:tx>
            <c:strRef>
              <c:f>95% upper</c:f>
              <c:strCache>
                <c:ptCount val="1"/>
                <c:pt idx="0">
                  <c:v>95% upper</c:v>
                </c:pt>
              </c:strCache>
            </c:strRef>
          </c:tx>
          <c:spPr>
            <a:solidFill>
              <a:srgbClr val="C7CDD6"/>
            </a:solidFill>
          </c:spPr>
          <c:invertIfNegative val="0"/>
          <c:cat>
            <c:strRef>
              <c:f>{"Z","P0e","P0o","P1e","P1o","P2e","P2o","P3e","P3o"}</c:f>
              <c:strCache>
                <c:ptCount val="9"/>
                <c:pt idx="0">
                  <c:v>Z</c:v>
                </c:pt>
                <c:pt idx="1">
                  <c:v>P0e</c:v>
                </c:pt>
                <c:pt idx="2">
                  <c:v>P0o</c:v>
                </c:pt>
                <c:pt idx="3">
                  <c:v>P1e</c:v>
                </c:pt>
                <c:pt idx="4">
                  <c:v>P1o</c:v>
                </c:pt>
                <c:pt idx="5">
                  <c:v>P2e</c:v>
                </c:pt>
                <c:pt idx="6">
                  <c:v>P2o</c:v>
                </c:pt>
                <c:pt idx="7">
                  <c:v>P3e</c:v>
                </c:pt>
                <c:pt idx="8">
                  <c:v>P3o</c:v>
                </c:pt>
              </c:strCache>
            </c:strRef>
          </c:cat>
          <c:val>
            <c:numRef>
              <c:f>{0.058127878418523,0.063778038379091,0.0771058741188836,0.0847700967042518,0.0769980552084213,0.061982877116161,0.0807075069184468,0.0754777043669427,0.0706085950847679}</c:f>
              <c:numCache>
                <c:formatCode>0.00</c:formatCode>
                <c:ptCount val="9"/>
                <c:pt idx="0">
                  <c:v>5.8127878418523002E-2</c:v>
                </c:pt>
                <c:pt idx="1">
                  <c:v>6.3778038379091004E-2</c:v>
                </c:pt>
                <c:pt idx="2">
                  <c:v>7.7105874118883602E-2</c:v>
                </c:pt>
                <c:pt idx="3">
                  <c:v>8.4770096704251799E-2</c:v>
                </c:pt>
                <c:pt idx="4">
                  <c:v>7.6998055208421304E-2</c:v>
                </c:pt>
                <c:pt idx="5">
                  <c:v>6.1982877116161003E-2</c:v>
                </c:pt>
                <c:pt idx="6">
                  <c:v>8.0707506918446803E-2</c:v>
                </c:pt>
                <c:pt idx="7">
                  <c:v>7.5477704366942705E-2</c:v>
                </c:pt>
                <c:pt idx="8">
                  <c:v>7.0608595084767897E-2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E9-4D76-B1F3-E20CF8924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ff6903e-1fa4-4ba0-a284-62c8029d7d0a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125" b="1">
                <a:solidFill>
                  <a:srgbClr val="172033"/>
                </a:solidFill>
              </a:rPr>
              <a:t>1000-shot probabilities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ideal Z</c:f>
              <c:strCache>
                <c:ptCount val="1"/>
                <c:pt idx="0">
                  <c:v>ideal Z</c:v>
                </c:pt>
              </c:strCache>
            </c:strRef>
          </c:tx>
          <c:spPr>
            <a:solidFill>
              <a:srgbClr val="B8BEC8"/>
            </a:solidFill>
          </c:spPr>
          <c:invertIfNegative val="0"/>
          <c:cat>
            <c:numRef>
              <c:f>{1,10,11}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{0.5,0.5,0}</c:f>
              <c:numCache>
                <c:formatCode>0.00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EA-49FC-B637-B611CFE55B4B}"/>
            </c:ext>
          </c:extLst>
        </c:ser>
        <c:ser>
          <c:idx val="1"/>
          <c:order val="1"/>
          <c:tx>
            <c:strRef>
              <c:f>simulator Z</c:f>
              <c:strCache>
                <c:ptCount val="1"/>
                <c:pt idx="0">
                  <c:v>simulator Z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numRef>
              <c:f>{1,10,11}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{0.4840000484,0.5159999516,0}</c:f>
              <c:numCache>
                <c:formatCode>0.00</c:formatCode>
                <c:ptCount val="3"/>
                <c:pt idx="0">
                  <c:v>0.48400004839999999</c:v>
                </c:pt>
                <c:pt idx="1">
                  <c:v>0.51599995160000001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EA-49FC-B637-B611CFE55B4B}"/>
            </c:ext>
          </c:extLst>
        </c:ser>
        <c:ser>
          <c:idx val="2"/>
          <c:order val="2"/>
          <c:tx>
            <c:strRef>
              <c:f>analyser q0 marginal</c:f>
              <c:strCache>
                <c:ptCount val="1"/>
                <c:pt idx="0">
                  <c:v>analyser q0 marginal</c:v>
                </c:pt>
              </c:strCache>
            </c:strRef>
          </c:tx>
          <c:spPr>
            <a:solidFill>
              <a:srgbClr val="33A06F"/>
            </a:solidFill>
          </c:spPr>
          <c:invertIfNegative val="0"/>
          <c:cat>
            <c:numRef>
              <c:f>{1,10,11}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{1,0,0}</c:f>
              <c:numCache>
                <c:formatCode>0.00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EA-49FC-B637-B611CFE55B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675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a4736c-8d3e-477c-85e8-1cad93e03753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125" b="1">
                <a:solidFill>
                  <a:srgbClr val="172033"/>
                </a:solidFill>
              </a:rPr>
              <a:t>Energy error relative to RHF / mHa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ΔE</c:f>
              <c:strCache>
                <c:ptCount val="1"/>
                <c:pt idx="0">
                  <c:v>ΔE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8BEC8"/>
              </a:solidFill>
            </c:spPr>
            <c:extLst>
              <c:ext xmlns:c16="http://schemas.microsoft.com/office/drawing/2014/chart" uri="{C3380CC4-5D6E-409C-BE32-E72D297353CC}">
                <c16:uniqueId val="{00000001-F3F0-4462-A5F4-8921B3914C0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3F0-4462-A5F4-8921B3914C05}"/>
              </c:ext>
            </c:extLst>
          </c:dPt>
          <c:dPt>
            <c:idx val="2"/>
            <c:invertIfNegative val="0"/>
            <c:bubble3D val="0"/>
            <c:spPr>
              <a:solidFill>
                <a:srgbClr val="78AFFF"/>
              </a:solidFill>
            </c:spPr>
            <c:extLst>
              <c:ext xmlns:c16="http://schemas.microsoft.com/office/drawing/2014/chart" uri="{C3380CC4-5D6E-409C-BE32-E72D297353CC}">
                <c16:uniqueId val="{00000005-F3F0-4462-A5F4-8921B3914C05}"/>
              </c:ext>
            </c:extLst>
          </c:dPt>
          <c:cat>
            <c:strRef>
              <c:f>{"reference","raw γ","rank-1"}</c:f>
              <c:strCache>
                <c:ptCount val="3"/>
                <c:pt idx="0">
                  <c:v>reference</c:v>
                </c:pt>
                <c:pt idx="1">
                  <c:v>raw γ</c:v>
                </c:pt>
                <c:pt idx="2">
                  <c:v>rank-1</c:v>
                </c:pt>
              </c:strCache>
            </c:strRef>
          </c:cat>
          <c:val>
            <c:numRef>
              <c:f>{0,-0.0612356855,0.5770815682}</c:f>
              <c:numCache>
                <c:formatCode>0.0</c:formatCode>
                <c:ptCount val="3"/>
                <c:pt idx="0">
                  <c:v>0</c:v>
                </c:pt>
                <c:pt idx="1">
                  <c:v>-6.1235685499999998E-2</c:v>
                </c:pt>
                <c:pt idx="2">
                  <c:v>0.57708156820000001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F0-4462-A5F4-8921B3914C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8"/>
          <c:min val="-0.2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7ebfe38-879f-4afe-a875-272316ec4d6c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125" b="1">
                <a:solidFill>
                  <a:srgbClr val="172033"/>
                </a:solidFill>
              </a:rPr>
              <a:t>Wukong hardware: particle sectors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P(N=1)</c:f>
              <c:strCache>
                <c:ptCount val="1"/>
                <c:pt idx="0">
                  <c:v>P(N=1)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strRef>
              <c:f>{"Z setting","analyser"}</c:f>
              <c:strCache>
                <c:ptCount val="2"/>
                <c:pt idx="0">
                  <c:v>Z setting</c:v>
                </c:pt>
                <c:pt idx="1">
                  <c:v>analyser</c:v>
                </c:pt>
              </c:strCache>
            </c:strRef>
          </c:cat>
          <c:val>
            <c:numRef>
              <c:f>{0.542,0.0929999907}</c:f>
              <c:numCache>
                <c:formatCode>0.0</c:formatCode>
                <c:ptCount val="2"/>
                <c:pt idx="0">
                  <c:v>0.54200000000000004</c:v>
                </c:pt>
                <c:pt idx="1">
                  <c:v>9.2999990699999993E-2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7-4338-85C5-BF7F6F307D71}"/>
            </c:ext>
          </c:extLst>
        </c:ser>
        <c:ser>
          <c:idx val="1"/>
          <c:order val="1"/>
          <c:tx>
            <c:strRef>
              <c:f>P(N=2)</c:f>
              <c:strCache>
                <c:ptCount val="1"/>
                <c:pt idx="0">
                  <c:v>P(N=2)</c:v>
                </c:pt>
              </c:strCache>
            </c:strRef>
          </c:tx>
          <c:spPr>
            <a:solidFill>
              <a:srgbClr val="E66C76"/>
            </a:solidFill>
          </c:spPr>
          <c:invertIfNegative val="0"/>
          <c:cat>
            <c:strRef>
              <c:f>{"Z setting","analyser"}</c:f>
              <c:strCache>
                <c:ptCount val="2"/>
                <c:pt idx="0">
                  <c:v>Z setting</c:v>
                </c:pt>
                <c:pt idx="1">
                  <c:v>analyser</c:v>
                </c:pt>
              </c:strCache>
            </c:strRef>
          </c:cat>
          <c:val>
            <c:numRef>
              <c:f>{0.458,0.9070000093}</c:f>
              <c:numCache>
                <c:formatCode>0.0</c:formatCode>
                <c:ptCount val="2"/>
                <c:pt idx="0">
                  <c:v>0.45800000000000002</c:v>
                </c:pt>
                <c:pt idx="1">
                  <c:v>0.90700000930000002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7-4338-85C5-BF7F6F307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aa6562-11c8-4970-ae8e-162901e70e35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Z-setting DTV</c:f>
              <c:strCache>
                <c:ptCount val="1"/>
                <c:pt idx="0">
                  <c:v>Z-setting DTV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E66C76"/>
              </a:solidFill>
            </c:spPr>
            <c:extLst>
              <c:ext xmlns:c16="http://schemas.microsoft.com/office/drawing/2014/chart" uri="{C3380CC4-5D6E-409C-BE32-E72D297353CC}">
                <c16:uniqueId val="{00000001-5BDA-41E3-8320-43D7B05C0115}"/>
              </c:ext>
            </c:extLst>
          </c:dPt>
          <c:dPt>
            <c:idx val="1"/>
            <c:invertIfNegative val="0"/>
            <c:bubble3D val="0"/>
            <c:spPr>
              <a:solidFill>
                <a:srgbClr val="33A06F"/>
              </a:solidFill>
            </c:spPr>
            <c:extLst>
              <c:ext xmlns:c16="http://schemas.microsoft.com/office/drawing/2014/chart" uri="{C3380CC4-5D6E-409C-BE32-E72D297353CC}">
                <c16:uniqueId val="{00000003-5BDA-41E3-8320-43D7B05C0115}"/>
              </c:ext>
            </c:extLst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975" b="1" i="0" u="none" strike="noStrike" kern="1200" baseline="0">
                        <a:solidFill>
                          <a:srgbClr val="172033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975" b="1">
                        <a:solidFill>
                          <a:srgbClr val="172033"/>
                        </a:solidFill>
                      </a:rPr>
                      <a:t>0.7696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DA-41E3-8320-43D7B05C0115}"/>
                </c:ext>
              </c:extLst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975" b="1" i="0" u="none" strike="noStrike" kern="1200" baseline="0">
                        <a:solidFill>
                          <a:srgbClr val="172033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975" b="1">
                        <a:solidFill>
                          <a:srgbClr val="172033"/>
                        </a:solidFill>
                      </a:rPr>
                      <a:t>0.0393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DA-41E3-8320-43D7B05C01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{"legacy RZ(α)","corrected"}</c:f>
              <c:strCache>
                <c:ptCount val="2"/>
                <c:pt idx="0">
                  <c:v>legacy RZ(α)</c:v>
                </c:pt>
                <c:pt idx="1">
                  <c:v>corrected</c:v>
                </c:pt>
              </c:strCache>
            </c:strRef>
          </c:cat>
          <c:val>
            <c:numRef>
              <c:f>{0.769616606808197,0.039281267847034}</c:f>
              <c:numCache>
                <c:formatCode>0.0000</c:formatCode>
                <c:ptCount val="2"/>
                <c:pt idx="0">
                  <c:v>0.76961660680819699</c:v>
                </c:pt>
                <c:pt idx="1">
                  <c:v>3.9281267847034E-2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DA-41E3-8320-43D7B05C01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00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c9703ac1-7873-4af8-b55f-27fe37cae345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observed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strRef>
              <c:f>{"Z","P0e","P0o","P1e","P1o","P2e","P2o","P3e","P3o"}</c:f>
              <c:strCache>
                <c:ptCount val="9"/>
                <c:pt idx="0">
                  <c:v>Z</c:v>
                </c:pt>
                <c:pt idx="1">
                  <c:v>P0e</c:v>
                </c:pt>
                <c:pt idx="2">
                  <c:v>P0o</c:v>
                </c:pt>
                <c:pt idx="3">
                  <c:v>P1e</c:v>
                </c:pt>
                <c:pt idx="4">
                  <c:v>P1o</c:v>
                </c:pt>
                <c:pt idx="5">
                  <c:v>P2e</c:v>
                </c:pt>
                <c:pt idx="6">
                  <c:v>P2o</c:v>
                </c:pt>
                <c:pt idx="7">
                  <c:v>P3e</c:v>
                </c:pt>
                <c:pt idx="8">
                  <c:v>P3o</c:v>
                </c:pt>
              </c:strCache>
            </c:strRef>
          </c:cat>
          <c:val>
            <c:numRef>
              <c:f>{0.039281267847034,0.0516288791833794,0.0521202331967961,0.0606366514346528,0.0538987489979527,0.0495411829219943,0.0742533035211001,0.0431521897636871,0.055692778503055}</c:f>
              <c:numCache>
                <c:formatCode>0.00</c:formatCode>
                <c:ptCount val="9"/>
                <c:pt idx="0">
                  <c:v>3.9281267847034E-2</c:v>
                </c:pt>
                <c:pt idx="1">
                  <c:v>5.1628879183379398E-2</c:v>
                </c:pt>
                <c:pt idx="2">
                  <c:v>5.2120233196796102E-2</c:v>
                </c:pt>
                <c:pt idx="3">
                  <c:v>6.06366514346528E-2</c:v>
                </c:pt>
                <c:pt idx="4">
                  <c:v>5.3898748997952703E-2</c:v>
                </c:pt>
                <c:pt idx="5">
                  <c:v>4.9541182921994303E-2</c:v>
                </c:pt>
                <c:pt idx="6">
                  <c:v>7.42533035211001E-2</c:v>
                </c:pt>
                <c:pt idx="7">
                  <c:v>4.31521897636871E-2</c:v>
                </c:pt>
                <c:pt idx="8">
                  <c:v>5.5692778503054999E-2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F5-49B4-BC8B-AD7F1456CD7C}"/>
            </c:ext>
          </c:extLst>
        </c:ser>
        <c:ser>
          <c:idx val="1"/>
          <c:order val="1"/>
          <c:tx>
            <c:strRef>
              <c:f>95% upper</c:f>
              <c:strCache>
                <c:ptCount val="1"/>
                <c:pt idx="0">
                  <c:v>95% upper</c:v>
                </c:pt>
              </c:strCache>
            </c:strRef>
          </c:tx>
          <c:spPr>
            <a:solidFill>
              <a:srgbClr val="C7CDD6"/>
            </a:solidFill>
          </c:spPr>
          <c:invertIfNegative val="0"/>
          <c:cat>
            <c:strRef>
              <c:f>{"Z","P0e","P0o","P1e","P1o","P2e","P2o","P3e","P3o"}</c:f>
              <c:strCache>
                <c:ptCount val="9"/>
                <c:pt idx="0">
                  <c:v>Z</c:v>
                </c:pt>
                <c:pt idx="1">
                  <c:v>P0e</c:v>
                </c:pt>
                <c:pt idx="2">
                  <c:v>P0o</c:v>
                </c:pt>
                <c:pt idx="3">
                  <c:v>P1e</c:v>
                </c:pt>
                <c:pt idx="4">
                  <c:v>P1o</c:v>
                </c:pt>
                <c:pt idx="5">
                  <c:v>P2e</c:v>
                </c:pt>
                <c:pt idx="6">
                  <c:v>P2o</c:v>
                </c:pt>
                <c:pt idx="7">
                  <c:v>P3e</c:v>
                </c:pt>
                <c:pt idx="8">
                  <c:v>P3o</c:v>
                </c:pt>
              </c:strCache>
            </c:strRef>
          </c:cat>
          <c:val>
            <c:numRef>
              <c:f>{0.058127878418523,0.063778038379091,0.0771058741188836,0.0847700967042518,0.0769980552084213,0.061982877116161,0.0807075069184468,0.0754777043669427,0.0706085950847679}</c:f>
              <c:numCache>
                <c:formatCode>0.00</c:formatCode>
                <c:ptCount val="9"/>
                <c:pt idx="0">
                  <c:v>5.8127878418523002E-2</c:v>
                </c:pt>
                <c:pt idx="1">
                  <c:v>6.3778038379091004E-2</c:v>
                </c:pt>
                <c:pt idx="2">
                  <c:v>7.7105874118883602E-2</c:v>
                </c:pt>
                <c:pt idx="3">
                  <c:v>8.4770096704251799E-2</c:v>
                </c:pt>
                <c:pt idx="4">
                  <c:v>7.6998055208421304E-2</c:v>
                </c:pt>
                <c:pt idx="5">
                  <c:v>6.1982877116161003E-2</c:v>
                </c:pt>
                <c:pt idx="6">
                  <c:v>8.0707506918446803E-2</c:v>
                </c:pt>
                <c:pt idx="7">
                  <c:v>7.5477704366942705E-2</c:v>
                </c:pt>
                <c:pt idx="8">
                  <c:v>7.0608595084767897E-2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F5-49B4-BC8B-AD7F1456C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0856fdb-14ed-4bc5-9c6e-d81a9bd47251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raw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cat>
            <c:numRef>
              <c:f>{1,2,3,4,5,6,7,8}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{1.01934236602748,1.00328617856915,0.98667243862413,0.970612860968934,0.0326063229348121,0.0084008110188199,0.00634092465028979,-0.0272619027936118}</c:f>
              <c:numCache>
                <c:formatCode>0.0</c:formatCode>
                <c:ptCount val="8"/>
                <c:pt idx="0">
                  <c:v>1.0193423660274801</c:v>
                </c:pt>
                <c:pt idx="1">
                  <c:v>1.00328617856915</c:v>
                </c:pt>
                <c:pt idx="2">
                  <c:v>0.98667243862413001</c:v>
                </c:pt>
                <c:pt idx="3">
                  <c:v>0.97061286096893395</c:v>
                </c:pt>
                <c:pt idx="4">
                  <c:v>3.2606322934812103E-2</c:v>
                </c:pt>
                <c:pt idx="5">
                  <c:v>8.4008110188198998E-3</c:v>
                </c:pt>
                <c:pt idx="6">
                  <c:v>6.3409246502897903E-3</c:v>
                </c:pt>
                <c:pt idx="7">
                  <c:v>-2.7261902793611799E-2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C0-4D36-89B6-E5FDF8F2FB7F}"/>
            </c:ext>
          </c:extLst>
        </c:ser>
        <c:ser>
          <c:idx val="1"/>
          <c:order val="1"/>
          <c:tx>
            <c:strRef>
              <c:f>ideal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B8BEC8"/>
            </a:solidFill>
          </c:spPr>
          <c:invertIfNegative val="0"/>
          <c:cat>
            <c:numRef>
              <c:f>{1,2,3,4,5,6,7,8}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{1.00000000000023,1.00000000000009,0.999999999999948,0.999999999999797,3.1626905912871e-13,5.84945392501631e-14,-1.09140191522102e-13,-3.33215761067265e-13}</c:f>
              <c:numCache>
                <c:formatCode>0.0</c:formatCode>
                <c:ptCount val="8"/>
                <c:pt idx="0">
                  <c:v>1.00000000000023</c:v>
                </c:pt>
                <c:pt idx="1">
                  <c:v>1.0000000000000899</c:v>
                </c:pt>
                <c:pt idx="2">
                  <c:v>0.99999999999994804</c:v>
                </c:pt>
                <c:pt idx="3">
                  <c:v>0.99999999999979705</c:v>
                </c:pt>
                <c:pt idx="4">
                  <c:v>3.1626905912870999E-13</c:v>
                </c:pt>
                <c:pt idx="5">
                  <c:v>5.8494539250163099E-14</c:v>
                </c:pt>
                <c:pt idx="6">
                  <c:v>-1.09140191522102E-13</c:v>
                </c:pt>
                <c:pt idx="7">
                  <c:v>-3.3321576106726501E-13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C0-4D36-89B6-E5FDF8F2FB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.1000000000000001"/>
          <c:min val="-0.1"/>
        </c:scaling>
        <c:delete val="0"/>
        <c:axPos val="l"/>
        <c:majorGridlines>
          <c:spPr>
            <a:ln w="9525" cap="flat" cmpd="sng" algn="ctr">
              <a:solidFill>
                <a:srgbClr val="E7EAF0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C9CED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525B6B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825" b="0" i="0" u="none" strike="noStrike" kern="1200" baseline="0">
              <a:solidFill>
                <a:srgbClr val="525B6B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4afa714-3a14-4d10-91c9-00d58558758e}"/>
      </c:ext>
    </c:extLst>
  </c:chart>
  <c:spPr>
    <a:noFill/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99A86-EB80-444C-B4EC-BB1A64DDB3EE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E33E7-7AC0-4B67-BE3F-CC4D643F2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55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edition keeps the Hartree-Fock and 1-RDM narrative unchanged and replaces the reproduction evidence with the newly supplied nine-setting dataset.</a:t>
            </a:r>
          </a:p>
          <a:p>
            <a:endParaRPr/>
          </a:p>
          <a:p>
            <a:r>
              <a:t>[Sources]</a:t>
            </a:r>
          </a:p>
          <a:p>
            <a:r>
              <a:t>- User-supplied circuit_result.zip (nine JSON files, 2026-07-28).</a:t>
            </a:r>
          </a:p>
          <a:p>
            <a:r>
              <a:t>- Reproducible local analysis: code/h8_reproduction.py; results/diagnostics.json.</a:t>
            </a:r>
          </a:p>
          <a:p>
            <a:r>
              <a:t>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establish the learning progression. Each section answers the question created by the previous one: what HF optimizes, what the quantum device measures, how to judge the output, and what the H8 data actually show.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  <a:p>
            <a:r>
              <a:t>- https://quantumai.google/cirq/experiments/hfvqe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from the Hamiltonian and name the three energy contributions. HF does not remove electron–electron interaction; it restricts the antisymmetric wavefunction to one determinant, retaining exchange but missing correlation.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  <a:p>
            <a:r>
              <a:t>- https://pyscf.org/user/scf.html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boundary of the quantum module. At half filling, H8 has 4×4=16 non-redundant occupied–virtual rotations, not 256 arbitrary state amplitudes.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 the 1‑RDM as the projector onto the occupied subspace. Hermiticity and trace are easy to satisfy; the discriminating tests are the 0/1 spectrum and idempotency.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  <a:p>
            <a:r>
              <a:t>- https://quantumai.google/cirq/experiments/hfvqe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key theoretical closure: the HF 2‑RDM is not an additional measurement target; it is determined by the 1‑RDM. Every quantum measurement that follows serves γ.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  <a:p>
            <a:r>
              <a:t>- https://pyscf.org/user/scf.html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one Givens rotation before the mesh. Each gate rotates a two-dimensional one-particle subspace; the product of adjacent rotations prepares the target occupied subspace.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maps the abstract Givens rotation to the actual native gate set. The key is not memorizing five lines, but verifying that their one-particle action is exactly a real orthogonal rotation.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  <a:p>
            <a:r>
              <a:t>- https://pyqpanda-toturial.readthedocs.io/zh/latest/autoapi/pyqpanda/pyQPanda/index.html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Diagonal entries are occupations. Off-diagonal coherence is not directly visible in Z, so a number-conserving two-mode interferometer maps it to an occupation difference. The final equation is the mathematical basis of the angle-unit diagnosis.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table explains why only nine circuits are needed. Each even setting measures four pairs, each odd setting three; the four orderings cover all 28 off-diagonal entries.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https://arxiv.org/abs/2004.04174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three plots from left to right: the raw matrix, its eigenvalue spectrum, and setting-level distribution agreement. They test complementary parts of the same reconstruction.</a:t>
            </a:r>
          </a:p>
          <a:p>
            <a:endParaRPr/>
          </a:p>
          <a:p>
            <a:r>
              <a:t>[Sources]</a:t>
            </a:r>
          </a:p>
          <a:p>
            <a:r>
              <a:t>- User-supplied circuit_result.zip (nine JSON files, 2026-07-28).</a:t>
            </a:r>
          </a:p>
          <a:p>
            <a:r>
              <a:t>- Reproducible local analysis: code/h8_reproduction.py; results/diagnostics.json.</a:t>
            </a:r>
          </a:p>
          <a:p>
            <a:r>
              <a:t>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H₂ is the smallest complete molecular calibration. The quantum circuit encodes one spin sector, measures a 2×2 1-RDM, and the closed-shell functional restores the two-electron RHF energy.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steps follow the actual program order. The Gaussian/PySCF integrals, orthogonal orbital basis, geometry, and nuclear repulsion must match the quantum representation.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simulator Z distribution shows only 1000-shot variation and the analyser returns q0=1. Because both programmed gate-noise parameters are zero, this is not a robustness test at nonzero relaxation strength.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Wukong data undergo N=1 post-selection and then rank-1 projection. Neither step recovers the target: the analyser retains only about 93 effective shots and its conditional distribution is also wrong.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Energy provides the clearest integrated metric. The simulator lies inside chemical accuracy, whereas the projected Wukong energy remains positive and far outside its bootstrap interval.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mathematics does not change from H₂ to H₈; the Givens depth, number of measurement settings, and accumulated hardware error do.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H₈ Z setting gives eight diagonal entries. Four orbital permutations, each with even and odd interference settings, cover all 28 real off-diagonal entries.</a:t>
            </a:r>
          </a:p>
          <a:p>
            <a:endParaRPr/>
          </a:p>
          <a:p>
            <a:r>
              <a:t>[Sources]</a:t>
            </a:r>
          </a:p>
          <a:p>
            <a:r>
              <a:t>- Previously supplied H₈ nine-setting circuit_result data (2026-07-29).</a:t>
            </a:r>
          </a:p>
          <a:p>
            <a:r>
              <a:t>- Reproducible local analysis: code/h8_reproduction.py; results/h8_previous/diagnostics.json.</a:t>
            </a:r>
          </a:p>
          <a:p>
            <a:r>
              <a:t>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nine H₈ simulator distributions agree with the corrected explicit-radian circuits; the mean TV distance lies inside the ideal 1000-shot envelope.</a:t>
            </a:r>
          </a:p>
          <a:p>
            <a:endParaRPr/>
          </a:p>
          <a:p>
            <a:r>
              <a:t>[Sources]</a:t>
            </a:r>
          </a:p>
          <a:p>
            <a:r>
              <a:t>- Previously supplied H₈ nine-setting circuit_result data (2026-07-29).</a:t>
            </a:r>
          </a:p>
          <a:p>
            <a:r>
              <a:t>- Reproducible local analysis: code/h8_reproduction.py; results/h8_previous/diagnostics.json.</a:t>
            </a:r>
          </a:p>
          <a:p>
            <a:r>
              <a:t>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H₈ matrix preserves four particles and its idempotency error is compatible with finite shots; the projected Slater fidelity is 0.996964.</a:t>
            </a:r>
          </a:p>
          <a:p>
            <a:endParaRPr/>
          </a:p>
          <a:p>
            <a:r>
              <a:t>[Sources]</a:t>
            </a:r>
          </a:p>
          <a:p>
            <a:r>
              <a:t>- Previously supplied H₈ nine-setting circuit_result data (2026-07-29).</a:t>
            </a:r>
          </a:p>
          <a:p>
            <a:r>
              <a:t>- Reproducible local analysis: code/h8_reproduction.py; results/h8_previous/diagnostics.json.</a:t>
            </a:r>
          </a:p>
          <a:p>
            <a:r>
              <a:t>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edition separates three claims: H₂ simulator energy succeeds, H₂ hardware fails, and the H₈ simulator circuit/1-RDM reproduction succeeds.</a:t>
            </a:r>
          </a:p>
          <a:p>
            <a:endParaRPr/>
          </a:p>
          <a:p>
            <a:r>
              <a:t>[Sources]</a:t>
            </a:r>
          </a:p>
          <a:p>
            <a:r>
              <a:t>- User-supplied quantum circuit res ver.zip and quantum circuit res.zip (2026-07-29).</a:t>
            </a:r>
          </a:p>
          <a:p>
            <a:r>
              <a:t>- Reproducible local analysis: code/analyze_h2_simulator_wukong.py; results/h2/summary.json.</a:t>
            </a:r>
          </a:p>
          <a:p>
            <a:r>
              <a:t>- H₂ RHF/STO-3G reference and Gaussian input: reference/ and gaussian/.</a:t>
            </a:r>
          </a:p>
          <a:p>
            <a:r>
              <a:t>- Rubin et al., Science 369, 1084–1089 (2020), Supplementary Material.</a:t>
            </a:r>
          </a:p>
          <a:p>
            <a:r>
              <a:t>- - Previously supplied H₈ nine-setting circuit_result data (2026-07-29).</a:t>
            </a:r>
          </a:p>
          <a:p>
            <a:r>
              <a:t>- - Reproducible local analysis: code/h8_reproduction.py; results/h8_previous/diagnostics.json.</a:t>
            </a:r>
          </a:p>
          <a:p>
            <a:r>
              <a:t>- - Rubin et al., Science 369, 1084–1089 (2020), Supplementary Material,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D205F-D812-BDF3-5566-578CF30EF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7910C6-204A-673F-2FA5-A06D32F1D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5D67D6-42A2-733D-92AE-EF61D74C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7137A-A233-3491-D5F4-233E36E4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B9C33-814B-EBD8-B458-DE1E136A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52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FF7FB-C5F4-6E5C-106C-2B4E205D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62FB8-335B-BF64-64F8-3390BD81A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E7A2B-3EE7-33F6-BC09-76C9F408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3188F-6751-9A0A-1CAD-F02641F9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85318-E181-E165-1DDD-990CA01D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18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91FDE-5DA7-ACB3-3043-11FE2C1F3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6A320-6BCB-58AA-C14C-BCC1F7B5A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827E2F-9FF9-B0FA-A24A-36F94674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98A0B-3EC7-8527-922D-1CFCCE1F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0FB8D-7013-3554-A9A3-A1207675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79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938AB-39E6-3EB3-6437-4A70B38D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1266C4-2372-CB62-9BC0-11428ED39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3A79FB-A56D-9821-2A1D-74EDAE1C6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5ABC73-D9FC-66D4-5882-2DEE7653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7C31A-C450-AD74-21B7-9726DEEF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E3412C-4024-08EF-E922-3D46024A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6ECDB-8FEF-82F9-C5FA-42FE6B10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2B6B58-82D5-DB39-4E86-F67CE5C0E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B4F760-029E-C476-1231-E2F83A9E4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058D51-F5A0-35F6-C465-B7BEE6BC5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76CBB8-029C-D184-4C45-5089F5999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179BFE-5D68-5373-5136-8973935D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5AABD8-3E78-D365-D55F-946C27A4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ABF6E8-6633-C962-1088-4676BDD0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082AF-A554-B110-30A7-6C02D424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26CFC1-2FD0-8EAE-97B0-EEB77CDD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AD5974-20F2-1C5A-4329-3BF1F633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A22160-209F-9267-447D-1C68CC81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02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FCA12F-07F4-93EC-226B-9B795D401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729689-1777-6E40-3E68-1F78DF7D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CE816F-1AA5-B659-787C-C725460F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92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B3CDD-2757-4F78-B2AC-68F24895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18D048-178A-E8FA-863A-2D86EB027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B50135-FC3A-22B7-CB43-36DBF907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50CB3C-53EC-5982-1677-8D3F2CDA6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9AB668-B244-D832-8E6F-DFFAB33D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ACBA0D-30D3-175A-A7D6-F0A13204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50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94AFB-534C-B328-8B33-C4F1290E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B83D03-9F29-0E0D-EC97-E6D671466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A079B0-CC7C-AF25-10CE-D4F02F966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CA73E3-A6BC-2401-14F4-775BDF0D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AA7F1B-E7D7-7D04-C3C2-B877C5AC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4A5ACC-441F-B7D2-AAFA-B0D9F68E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65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2BDC9-9065-A410-CD14-7AE31D8F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D5DC97-3961-1A76-8F25-456AC5B27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7D205-B165-E813-F75B-1B121FE1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B7C6D-C255-435C-32D2-02D85B29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C9D40-6D38-BD05-E757-4B2C82CC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5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0DDA57-AE50-F38E-7915-13D1E75BF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E3B5BD-6139-C15E-3AA3-51B561E5E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6D872-CACC-59C7-37BC-94640D9F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FC1106-36A0-3AF9-69E7-C51A1D2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348C8-3477-D078-B170-D56B5D71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58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70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94E585-8FFE-9DE9-B973-2CBF7968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9CF5E1-ED53-FAC9-C81B-D2E0817F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1024-0714-D350-4AFF-76D299CD5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DEDE-47FD-4655-8B81-D5BA36B720B5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9DE74-16ED-7D79-ABF5-0CCF4792C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9C8D47-83B1-1C47-6DC2-3124B00D1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5F28C-5247-4073-924F-840B7477F4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3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9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notesSlide" Target="../notesSlides/notesSlide1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1.xml"/><Relationship Id="rId8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notesSlide" Target="../notesSlides/notesSlide21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457200" y="457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COURSE PRESENTATION · NEW-DATA EDITION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57200" y="1428750"/>
            <a:ext cx="6191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60" lnSpcReduction="10000"/>
          </a:bodyPr>
          <a:lstStyle/>
          <a:p>
            <a:pPr algn="l">
              <a:lnSpc>
                <a:spcPct val="90000"/>
              </a:lnSpc>
              <a:buNone/>
              <a:defRPr sz="4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Hartree–Fock to an H₈ Quantum Reproduction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340995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Connecting orbital rotations, quantum measurements, energy, and diagnostics through the 1‑RDM</a:t>
            </a: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6905625" y="7239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1071971"/>
            <a:ext cx="3905250" cy="3323407"/>
          </a:xfrm>
          <a:prstGeom prst="roundRect">
            <a:avLst/>
          </a:prstGeom>
        </p:spPr>
      </p:pic>
      <p:sp>
        <p:nvSpPr>
          <p:cNvPr id="6" name="直接连接符 5"/>
          <p:cNvSpPr>
            <a:spLocks noGrp="1"/>
          </p:cNvSpPr>
          <p:nvPr/>
        </p:nvSpPr>
        <p:spPr>
          <a:xfrm>
            <a:off x="69723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6200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82677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89154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95631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02108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0858500" y="5038725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6667500" y="4810125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315200" y="4810125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7962900" y="4810125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629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610600" y="4810125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106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9258300" y="4810125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2583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906000" y="4810125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10553700" y="4810125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5537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1201400" y="4810125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201400" y="48577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0" y="53816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Linear H₈ · orbitals/modes 0…7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" y="558165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75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HF → Givens → 1‑RDM → H₈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2776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-2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STORYLINE</a:t>
            </a:r>
          </a:p>
        </p:txBody>
      </p:sp>
      <p:sp>
        <p:nvSpPr>
          <p:cNvPr id="2" name="title-2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sections, one computational chain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STORYLINE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457200" y="2486025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7200" y="16764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16954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Background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169545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HF optimizes orbitals on the single-Slater manifold</a:t>
            </a: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57200" y="3552825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" y="27432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71625" y="2762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Theory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76750" y="276225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1‑RDM closes the 2‑RDM and determines the HF energy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457200" y="4619625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38100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B8BCC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71625" y="3829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Visualization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76750" y="382905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Heatmaps, occupations, and idempotency expose physicality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457200" y="5686425"/>
            <a:ext cx="11277600" cy="0"/>
          </a:xfrm>
          <a:prstGeom prst="line">
            <a:avLst/>
          </a:prstGeom>
          <a:noFill/>
          <a:ln w="9525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57200" y="48768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71625" y="48958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16"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 → H₈ reproduction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76750" y="489585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H₂: simulator/Wukong energy → H₈: nine-setting 1-RDM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-3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 · BACKGROUND</a:t>
            </a:r>
          </a:p>
        </p:txBody>
      </p:sp>
      <p:sp>
        <p:nvSpPr>
          <p:cNvPr id="2" name="title-3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HF restricts the many-electron problem to one best determinant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 · BACKGROUND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457200" y="1581150"/>
            <a:ext cx="10858500" cy="819150"/>
          </a:xfrm>
          <a:prstGeom prst="roundRect">
            <a:avLst>
              <a:gd name="adj" fmla="val 13953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457200" y="1581150"/>
                <a:ext cx="108585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5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sz="1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19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sz="19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sz="19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ar-AE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ar-AE" sz="19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sz="19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19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ar-AE" sz="19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𝑝𝑞𝑟𝑠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Sup>
                        <m:sSubSupPr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sSub>
                        <m:sSubPr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ar-AE" sz="19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9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sz="19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00">
                              <a:latin typeface="Cambria Math" panose="02040503050406030204" pitchFamily="18" charset="0"/>
                            </a:rPr>
                            <m:t>nuc</m:t>
                          </m:r>
                        </m:sub>
                      </m:sSub>
                    </m:oMath>
                  </m:oMathPara>
                </a14:m>
                <a:endParaRPr sz="17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81150"/>
                <a:ext cx="10858500" cy="819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Grp="1"/>
          </p:cNvSpPr>
          <p:nvPr/>
        </p:nvSpPr>
        <p:spPr>
          <a:xfrm>
            <a:off x="457200" y="27241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Born–Oppenheimer freezes the nuclei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Grp="1"/>
              </p:cNvSpPr>
              <p:nvPr/>
            </p:nvSpPr>
            <p:spPr>
              <a:xfrm>
                <a:off x="457200" y="3219450"/>
                <a:ext cx="5095875" cy="2095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marL="0" algn="l">
                  <a:spcAft>
                    <a:spcPts val="10"/>
                  </a:spcAft>
                  <a:buNone/>
                  <a:defRPr sz="145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2000" dirty="0"/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</m:oMath>
                </a14:m>
                <a:r>
                  <a:rPr sz="2000" dirty="0"/>
                  <a:t>: kinetic energy plus electron–nuclear attraction</a:t>
                </a:r>
              </a:p>
              <a:p>
                <a:pPr marL="0" algn="l">
                  <a:spcAft>
                    <a:spcPts val="10"/>
                  </a:spcAft>
                  <a:buNone/>
                  <a:defRPr sz="145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2000" dirty="0"/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𝑝𝑞𝑟𝑠</m:t>
                        </m:r>
                      </m:sub>
                    </m:sSub>
                  </m:oMath>
                </a14:m>
                <a:r>
                  <a:rPr sz="2000" dirty="0"/>
                  <a:t>: electron–electron repulsion</a:t>
                </a:r>
              </a:p>
              <a:p>
                <a:pPr marL="0" algn="l">
                  <a:spcAft>
                    <a:spcPts val="10"/>
                  </a:spcAft>
                  <a:buNone/>
                  <a:defRPr sz="145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2000" dirty="0"/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000">
                            <a:latin typeface="Cambria Math" panose="02040503050406030204" pitchFamily="18" charset="0"/>
                          </a:rPr>
                          <m:t>nuc</m:t>
                        </m:r>
                      </m:sub>
                    </m:sSub>
                  </m:oMath>
                </a14:m>
                <a:r>
                  <a:rPr sz="2000" dirty="0"/>
                  <a:t>: nuclear repulsion at fixed geometry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0" name="矩形 9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19450"/>
                <a:ext cx="5095875" cy="2095500"/>
              </a:xfrm>
              <a:prstGeom prst="rect">
                <a:avLst/>
              </a:prstGeom>
              <a:blipFill>
                <a:blip r:embed="rId4"/>
                <a:stretch>
                  <a:fillRect l="-2990" t="-377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直接连接符 10"/>
          <p:cNvSpPr>
            <a:spLocks noGrp="1"/>
          </p:cNvSpPr>
          <p:nvPr/>
        </p:nvSpPr>
        <p:spPr>
          <a:xfrm>
            <a:off x="8667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5144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1621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8098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34575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41052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4752975" y="5126909"/>
            <a:ext cx="381000" cy="0"/>
          </a:xfrm>
          <a:prstGeom prst="line">
            <a:avLst/>
          </a:prstGeom>
          <a:noFill/>
          <a:ln w="28575">
            <a:solidFill>
              <a:srgbClr val="B8BCC4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561975" y="4898309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619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1209675" y="4898309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096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857375" y="4898309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8573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2505075" y="4898309"/>
            <a:ext cx="457200" cy="457200"/>
          </a:xfrm>
          <a:prstGeom prst="ellipse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5050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3152775" y="4898309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1527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3800475" y="4898309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8004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448175" y="4898309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4481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5095875" y="4898309"/>
            <a:ext cx="457200" cy="457200"/>
          </a:xfrm>
          <a:prstGeom prst="ellipse">
            <a:avLst/>
          </a:prstGeom>
          <a:solidFill>
            <a:srgbClr val="F6F7F8"/>
          </a:solidFill>
          <a:ln w="19050">
            <a:solidFill>
              <a:srgbClr val="B8BC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095875" y="4945934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66700" y="571377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 dirty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Linear H₈ · orbitals/modes 0…7</a:t>
            </a: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6400800" y="3086100"/>
            <a:ext cx="5334000" cy="819150"/>
          </a:xfrm>
          <a:prstGeom prst="roundRect">
            <a:avLst>
              <a:gd name="adj" fmla="val 13953"/>
            </a:avLst>
          </a:prstGeom>
          <a:solidFill>
            <a:srgbClr val="F6F7F8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>
                <a:spLocks noGrp="1"/>
              </p:cNvSpPr>
              <p:nvPr/>
            </p:nvSpPr>
            <p:spPr>
              <a:xfrm>
                <a:off x="6400800" y="3101063"/>
                <a:ext cx="53340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800">
                              <a:latin typeface="Cambria Math" panose="02040503050406030204" pitchFamily="18" charset="0"/>
                            </a:rPr>
                            <m:t>𝛷</m:t>
                          </m:r>
                          <m:d>
                            <m:d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8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8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sz="18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sz="180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80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latin typeface="Cambria Math" panose="02040503050406030204" pitchFamily="18" charset="0"/>
                                        </a:rPr>
                                        <m:t>𝑝𝑖</m:t>
                                      </m:r>
                                    </m:sub>
                                  </m:sSub>
                                </m:e>
                              </m:nary>
                              <m:sSubSup>
                                <m:sSubSupPr>
                                  <m:ctrlPr>
                                    <a:rPr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sz="18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sz="180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sz="1800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8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sz="15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101063"/>
                <a:ext cx="5334000" cy="819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/>
          <p:cNvSpPr>
            <a:spLocks noGrp="1"/>
          </p:cNvSpPr>
          <p:nvPr/>
        </p:nvSpPr>
        <p:spPr>
          <a:xfrm>
            <a:off x="6572250" y="56007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25" b="1" dirty="0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Cost: correlation beyond one determinant is absent</a:t>
            </a:r>
            <a:endParaRPr sz="1425" b="1" dirty="0">
              <a:solidFill>
                <a:srgbClr val="C83E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EF6FC55-AB15-601B-E9DE-6BD19FA2BB12}"/>
              </a:ext>
            </a:extLst>
          </p:cNvPr>
          <p:cNvSpPr txBox="1"/>
          <p:nvPr/>
        </p:nvSpPr>
        <p:spPr>
          <a:xfrm>
            <a:off x="4060723" y="2400300"/>
            <a:ext cx="32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1-RDM  </a:t>
            </a:r>
            <a:r>
              <a:rPr lang="en-US" altLang="zh-CN" dirty="0"/>
              <a:t>                             </a:t>
            </a:r>
            <a:r>
              <a:rPr lang="en-US" altLang="zh-CN" dirty="0">
                <a:solidFill>
                  <a:srgbClr val="7030A0"/>
                </a:solidFill>
              </a:rPr>
              <a:t>2-RDM</a:t>
            </a:r>
            <a:endParaRPr lang="zh-CN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43ED2E0-0267-DFBE-CE28-3230AC98B088}"/>
                  </a:ext>
                </a:extLst>
              </p:cNvPr>
              <p:cNvSpPr txBox="1"/>
              <p:nvPr/>
            </p:nvSpPr>
            <p:spPr>
              <a:xfrm>
                <a:off x="6935429" y="4496008"/>
                <a:ext cx="3864078" cy="70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m:t>constraints</m:t>
                      </m:r>
                      <m:r>
                        <m:rPr>
                          <m:nor/>
                        </m:rPr>
                        <a:rPr lang="en-US" altLang="zh-CN" b="1" i="0" dirty="0" smtClean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m:t>: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i="0" dirty="0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zh-CN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43ED2E0-0267-DFBE-CE28-3230AC98B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429" y="4496008"/>
                <a:ext cx="3864078" cy="708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4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 · BACKGROUND</a:t>
            </a:r>
          </a:p>
        </p:txBody>
      </p:sp>
      <p:sp>
        <p:nvSpPr>
          <p:cNvPr id="2" name="title-4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487" lnSpcReduction="20000"/>
          </a:bodyPr>
          <a:lstStyle/>
          <a:p>
            <a:pPr algn="l">
              <a:lnSpc>
                <a:spcPct val="100000"/>
              </a:lnSpc>
              <a:buNone/>
              <a:defRPr sz="32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2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quantum module rotates orbitals; it does not optimize arbitrary 2⁸ amplitudes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 · BACKGROUND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1476375" y="1600200"/>
            <a:ext cx="9239250" cy="876300"/>
          </a:xfrm>
          <a:prstGeom prst="roundRect">
            <a:avLst>
              <a:gd name="adj" fmla="val 13043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1476375" y="1600200"/>
                <a:ext cx="9239250" cy="876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>
                              <a:latin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dirty="0">
                              <a:latin typeface="Cambria Math" panose="02040503050406030204" pitchFamily="18" charset="0"/>
                            </a:rPr>
                            <m:t>𝐼</m:t>
                          </m:r>
                        </m:lim>
                      </m:limLow>
                      <m:r>
                        <a:rPr sz="200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5" y="1600200"/>
                <a:ext cx="9239250" cy="876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直接连接符 8"/>
          <p:cNvSpPr>
            <a:spLocks noGrp="1"/>
          </p:cNvSpPr>
          <p:nvPr/>
        </p:nvSpPr>
        <p:spPr>
          <a:xfrm>
            <a:off x="3286125" y="3981450"/>
            <a:ext cx="1190625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524750" y="3981450"/>
            <a:ext cx="1190625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857250" y="3095625"/>
            <a:ext cx="3238500" cy="1809750"/>
          </a:xfrm>
          <a:prstGeom prst="roundRect">
            <a:avLst>
              <a:gd name="adj" fmla="val 6316"/>
            </a:avLst>
          </a:prstGeom>
          <a:solidFill>
            <a:srgbClr val="F6F7F8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3337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Classical integrals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>
                <a:spLocks noGrp="1"/>
              </p:cNvSpPr>
              <p:nvPr/>
            </p:nvSpPr>
            <p:spPr>
              <a:xfrm>
                <a:off x="1085850" y="3905250"/>
                <a:ext cx="2781300" cy="7143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geometry + basis</a:t>
                </a:r>
              </a:p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h</m:t>
                    </m:r>
                    <m:r>
                      <a:rPr>
                        <a:latin typeface="Cambria Math" panose="02040503050406030204" pitchFamily="18" charset="0"/>
                      </a:rPr>
                      <m:t>, 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, 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nuc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50" y="3905250"/>
                <a:ext cx="2781300" cy="714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/>
          <p:cNvSpPr>
            <a:spLocks noGrp="1"/>
          </p:cNvSpPr>
          <p:nvPr/>
        </p:nvSpPr>
        <p:spPr>
          <a:xfrm>
            <a:off x="4476750" y="3095625"/>
            <a:ext cx="3238500" cy="1809750"/>
          </a:xfrm>
          <a:prstGeom prst="roundRect">
            <a:avLst>
              <a:gd name="adj" fmla="val 6316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05350" y="33337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Quantum orbital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>
                <a:spLocks noGrp="1"/>
              </p:cNvSpPr>
              <p:nvPr/>
            </p:nvSpPr>
            <p:spPr>
              <a:xfrm>
                <a:off x="4705350" y="3905250"/>
                <a:ext cx="2781300" cy="7143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ClrTx/>
                  <a:buSzTx/>
                  <a:buFontTx/>
                  <a:buNone/>
                  <a:defRPr sz="1450" b="0">
                    <a:solidFill>
                      <a:srgbClr val="5F667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:r>
                  <a:rPr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Givens mesh</a:t>
                </a:r>
              </a:p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:r>
                  <a:t>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|</m:t>
                    </m:r>
                    <m:r>
                      <a:rPr>
                        <a:latin typeface="Cambria Math" panose="02040503050406030204" pitchFamily="18" charset="0"/>
                      </a:rPr>
                      <m:t>𝛷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350" y="3905250"/>
                <a:ext cx="2781300" cy="7143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/>
          <p:cNvSpPr>
            <a:spLocks noGrp="1"/>
          </p:cNvSpPr>
          <p:nvPr/>
        </p:nvSpPr>
        <p:spPr>
          <a:xfrm>
            <a:off x="8096250" y="3095625"/>
            <a:ext cx="3238500" cy="1809750"/>
          </a:xfrm>
          <a:prstGeom prst="roundRect">
            <a:avLst>
              <a:gd name="adj" fmla="val 6316"/>
            </a:avLst>
          </a:prstGeom>
          <a:solidFill>
            <a:srgbClr val="F6F7F8"/>
          </a:solidFill>
          <a:ln w="14288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24850" y="333375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Classical contraction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>
                <a:spLocks noGrp="1"/>
              </p:cNvSpPr>
              <p:nvPr/>
            </p:nvSpPr>
            <p:spPr>
              <a:xfrm>
                <a:off x="8324850" y="3905250"/>
                <a:ext cx="2781300" cy="7143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measured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/>
              </a:p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HF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50" y="3905250"/>
                <a:ext cx="2781300" cy="7143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>
            <a:spLocks noGrp="1"/>
          </p:cNvSpPr>
          <p:nvPr/>
        </p:nvSpPr>
        <p:spPr>
          <a:xfrm>
            <a:off x="1619250" y="533400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t>The qubit state may be strongly entangled in the computational basis, while the fermionic state remains a classically tractable Gaussian/Slater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-5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5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1‑RDM links quantum measurements to the HF energy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457200" y="16192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457200" y="1619250"/>
                <a:ext cx="47625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6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8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800"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r>
                        <a:rPr sz="2800">
                          <a:latin typeface="Cambria Math" panose="02040503050406030204" pitchFamily="18" charset="0"/>
                        </a:rPr>
                        <m:t>=⟨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begChr m:val="|"/>
                          <m:endChr m:val="|"/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8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28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sz="280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  <m:sSub>
                            <m:sSubPr>
                              <m:ctrlPr>
                                <a:rPr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28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sz="2800"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sz="280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8" name="矩形 7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19250"/>
                <a:ext cx="4762500" cy="819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Grp="1"/>
          </p:cNvSpPr>
          <p:nvPr/>
        </p:nvSpPr>
        <p:spPr>
          <a:xfrm>
            <a:off x="457200" y="27432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17" lnSpcReduction="10000"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hard constraints for a pure Slater determinant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Grp="1"/>
              </p:cNvSpPr>
              <p:nvPr/>
            </p:nvSpPr>
            <p:spPr>
              <a:xfrm>
                <a:off x="1818968" y="3257550"/>
                <a:ext cx="3114982" cy="23336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marL="0" indent="0" algn="l">
                  <a:spcAft>
                    <a:spcPts val="15"/>
                  </a:spcAft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80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sz="280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sz="2800">
                        <a:latin typeface="Cambria Math" panose="02040503050406030204" pitchFamily="18" charset="0"/>
                      </a:rPr>
                      <m:t>=</m:t>
                    </m:r>
                    <m:r>
                      <a:rPr sz="280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2800" dirty="0"/>
              </a:p>
              <a:p>
                <a:pPr marL="0" indent="0" algn="l">
                  <a:spcAft>
                    <a:spcPts val="15"/>
                  </a:spcAft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280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sz="2800">
                        <a:latin typeface="Cambria Math" panose="02040503050406030204" pitchFamily="18" charset="0"/>
                      </a:rPr>
                      <m:t>𝛾</m:t>
                    </m:r>
                    <m:r>
                      <a:rPr sz="2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8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sz="280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sz="2800" dirty="0"/>
              </a:p>
              <a:p>
                <a:pPr marL="0" indent="0" algn="l">
                  <a:spcAft>
                    <a:spcPts val="15"/>
                  </a:spcAft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r>
                      <a:rPr sz="2800">
                        <a:latin typeface="Cambria Math" panose="02040503050406030204" pitchFamily="18" charset="0"/>
                      </a:rPr>
                      <m:t>0≼</m:t>
                    </m:r>
                    <m:r>
                      <a:rPr sz="2800">
                        <a:latin typeface="Cambria Math" panose="02040503050406030204" pitchFamily="18" charset="0"/>
                      </a:rPr>
                      <m:t>𝛾</m:t>
                    </m:r>
                    <m:r>
                      <a:rPr sz="2800">
                        <a:latin typeface="Cambria Math" panose="02040503050406030204" pitchFamily="18" charset="0"/>
                      </a:rPr>
                      <m:t>≼</m:t>
                    </m:r>
                    <m:r>
                      <a:rPr sz="280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800" dirty="0"/>
              </a:p>
              <a:p>
                <a:pPr marL="0" indent="0" algn="l">
                  <a:spcAft>
                    <a:spcPts val="15"/>
                  </a:spcAft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80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800">
                        <a:latin typeface="Cambria Math" panose="02040503050406030204" pitchFamily="18" charset="0"/>
                      </a:rPr>
                      <m:t>=</m:t>
                    </m:r>
                    <m:r>
                      <a:rPr sz="280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2800" dirty="0"/>
              </a:p>
            </p:txBody>
          </p:sp>
        </mc:Choice>
        <mc:Fallback xmlns="">
          <p:sp>
            <p:nvSpPr>
              <p:cNvPr id="10" name="矩形 9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968" y="3257550"/>
                <a:ext cx="3114982" cy="2333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/>
          <p:cNvSpPr>
            <a:spLocks noGrp="1"/>
          </p:cNvSpPr>
          <p:nvPr/>
        </p:nvSpPr>
        <p:spPr>
          <a:xfrm>
            <a:off x="6286500" y="15811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220" y="1581150"/>
            <a:ext cx="4812810" cy="4095750"/>
          </a:xfrm>
          <a:prstGeom prst="round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524625" y="581025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Natural occupations: four ones + four zeros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6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6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Wick closure makes the HF energy quadratic in the 1‑RDM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1428750" y="1581150"/>
            <a:ext cx="9334500" cy="781050"/>
          </a:xfrm>
          <a:prstGeom prst="roundRect">
            <a:avLst>
              <a:gd name="adj" fmla="val 14634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1428750" y="1581150"/>
                <a:ext cx="9334500" cy="781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5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sz="2400">
                              <a:latin typeface="Cambria Math" panose="02040503050406030204" pitchFamily="18" charset="0"/>
                            </a:rPr>
                            <m:t>𝑝𝑞</m:t>
                          </m:r>
                          <m:r>
                            <a:rPr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400">
                              <a:latin typeface="Cambria Math" panose="02040503050406030204" pitchFamily="18" charset="0"/>
                            </a:rPr>
                            <m:t>𝑟𝑠</m:t>
                          </m:r>
                        </m:sub>
                      </m:sSub>
                      <m:r>
                        <a:rPr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400">
                              <a:latin typeface="Cambria Math" panose="02040503050406030204" pitchFamily="18" charset="0"/>
                            </a:rPr>
                            <m:t>𝑝𝑟</m:t>
                          </m:r>
                        </m:sub>
                      </m:sSub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400">
                              <a:latin typeface="Cambria Math" panose="02040503050406030204" pitchFamily="18" charset="0"/>
                            </a:rPr>
                            <m:t>𝑞𝑠</m:t>
                          </m:r>
                        </m:sub>
                      </m:sSub>
                      <m:r>
                        <a:rPr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400">
                              <a:latin typeface="Cambria Math" panose="02040503050406030204" pitchFamily="18" charset="0"/>
                            </a:rPr>
                            <m:t>𝑝𝑠</m:t>
                          </m:r>
                        </m:sub>
                      </m:sSub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400">
                              <a:latin typeface="Cambria Math" panose="02040503050406030204" pitchFamily="18" charset="0"/>
                            </a:rPr>
                            <m:t>𝑞𝑟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1581150"/>
                <a:ext cx="9334500" cy="781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Grp="1"/>
              </p:cNvSpPr>
              <p:nvPr/>
            </p:nvSpPr>
            <p:spPr>
              <a:xfrm>
                <a:off x="809625" y="3109913"/>
                <a:ext cx="10620375" cy="952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>
                              <a:latin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000">
                              <a:latin typeface="Cambria Math" panose="02040503050406030204" pitchFamily="18" charset="0"/>
                            </a:rPr>
                            <m:t>nuc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𝑞𝑝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𝑝𝑞𝑟𝑠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𝑟𝑝</m:t>
                              </m:r>
                            </m:sub>
                          </m:sSub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𝑠𝑞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</m:sub>
                          </m:sSub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𝑟𝑞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" y="3109913"/>
                <a:ext cx="10620375" cy="952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直接连接符 9"/>
          <p:cNvSpPr>
            <a:spLocks noGrp="1"/>
          </p:cNvSpPr>
          <p:nvPr/>
        </p:nvSpPr>
        <p:spPr>
          <a:xfrm>
            <a:off x="3667125" y="4905375"/>
            <a:ext cx="7620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667625" y="4905375"/>
            <a:ext cx="762000" cy="0"/>
          </a:xfrm>
          <a:prstGeom prst="line">
            <a:avLst/>
          </a:prstGeom>
          <a:noFill/>
          <a:ln w="28575">
            <a:solidFill>
              <a:srgbClr val="3D8DFF"/>
            </a:solidFill>
            <a:prstDash val="solid"/>
          </a:ln>
        </p:spPr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762000" y="4191000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EAF5FB"/>
          </a:solidFill>
          <a:ln w="11430">
            <a:solidFill>
              <a:srgbClr val="3D8D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441007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952500" y="4914900"/>
                <a:ext cx="2952750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measure full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914900"/>
                <a:ext cx="2952750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/>
          <p:cNvSpPr>
            <a:spLocks noGrp="1"/>
          </p:cNvSpPr>
          <p:nvPr/>
        </p:nvSpPr>
        <p:spPr>
          <a:xfrm>
            <a:off x="4429125" y="4191000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19625" y="441007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4619625" y="4914900"/>
                <a:ext cx="2952750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construct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𝛤</m:t>
                    </m:r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625" y="4914900"/>
                <a:ext cx="2952750" cy="3619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/>
          <p:cNvSpPr>
            <a:spLocks noGrp="1"/>
          </p:cNvSpPr>
          <p:nvPr/>
        </p:nvSpPr>
        <p:spPr>
          <a:xfrm>
            <a:off x="8096250" y="4191000"/>
            <a:ext cx="3333750" cy="142875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441007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Same-basis contraction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>
                <a:spLocks noGrp="1"/>
              </p:cNvSpPr>
              <p:nvPr/>
            </p:nvSpPr>
            <p:spPr>
              <a:xfrm>
                <a:off x="8286750" y="4914900"/>
                <a:ext cx="2952750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5F667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h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50" y="4914900"/>
                <a:ext cx="2952750" cy="3619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>
                <a:spLocks noGrp="1"/>
              </p:cNvSpPr>
              <p:nvPr/>
            </p:nvSpPr>
            <p:spPr>
              <a:xfrm>
                <a:off x="1714500" y="5857875"/>
                <a:ext cx="87630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Non-negotiable: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t>, and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must share the same orbital basis, ordering, and spin convention.</a:t>
                </a: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0" y="5857875"/>
                <a:ext cx="8763000" cy="3048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B0EA2CD8-139E-3F5C-D04D-2108EBCE2E06}"/>
              </a:ext>
            </a:extLst>
          </p:cNvPr>
          <p:cNvSpPr txBox="1"/>
          <p:nvPr/>
        </p:nvSpPr>
        <p:spPr>
          <a:xfrm>
            <a:off x="4048125" y="2521893"/>
            <a:ext cx="438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2-RDM is determined by 1-RDM!</a:t>
            </a:r>
            <a:endParaRPr lang="zh-CN" alt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ection-7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7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Givens rotations mix two orbitals and conserve particle number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457200" y="1504950"/>
            <a:ext cx="5143500" cy="819150"/>
          </a:xfrm>
          <a:prstGeom prst="roundRect">
            <a:avLst>
              <a:gd name="adj" fmla="val 13953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457200" y="1504950"/>
                <a:ext cx="51435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04950"/>
                <a:ext cx="5143500" cy="8191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/>
          <p:cNvSpPr>
            <a:spLocks noGrp="1"/>
          </p:cNvSpPr>
          <p:nvPr/>
        </p:nvSpPr>
        <p:spPr>
          <a:xfrm>
            <a:off x="6096000" y="1504950"/>
            <a:ext cx="5334000" cy="819150"/>
          </a:xfrm>
          <a:prstGeom prst="roundRect">
            <a:avLst>
              <a:gd name="adj" fmla="val 13953"/>
            </a:avLst>
          </a:prstGeom>
          <a:solidFill>
            <a:srgbClr val="F6F7F8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Grp="1"/>
              </p:cNvSpPr>
              <p:nvPr/>
            </p:nvSpPr>
            <p:spPr>
              <a:xfrm>
                <a:off x="6096000" y="1504950"/>
                <a:ext cx="53340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 fontScale="96667"/>
              </a:bodyPr>
              <a:lstStyle/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10⟩↦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10⟩+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|01⟩</m:t>
                      </m:r>
                    </m:oMath>
                  </m:oMathPara>
                </a14:m>
                <a:endParaRPr/>
              </a:p>
              <a:p>
                <a:pPr algn="ctr">
                  <a:lnSpc>
                    <a:spcPct val="100000"/>
                  </a:lnSpc>
                  <a:buNone/>
                  <a:defRPr sz="14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00⟩, 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11⟩ 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unchanged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04950"/>
                <a:ext cx="5334000" cy="8191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直接连接符 10"/>
          <p:cNvSpPr>
            <a:spLocks noGrp="1"/>
          </p:cNvSpPr>
          <p:nvPr/>
        </p:nvSpPr>
        <p:spPr>
          <a:xfrm>
            <a:off x="1000125" y="266700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3875" y="25717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q0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000125" y="306705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3875" y="2971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q1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000125" y="346710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3875" y="33718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q2</a:t>
            </a: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000125" y="386715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3875" y="3771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q3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000125" y="426720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3875" y="41719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q4</a:t>
            </a: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000125" y="466725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23875" y="45720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q5</a:t>
            </a: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000125" y="506730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3875" y="4972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q6</a:t>
            </a: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00125" y="5467350"/>
            <a:ext cx="10048875" cy="0"/>
          </a:xfrm>
          <a:prstGeom prst="line">
            <a:avLst/>
          </a:prstGeom>
          <a:noFill/>
          <a:ln w="14288">
            <a:solidFill>
              <a:srgbClr val="81879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23875" y="5372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F6670"/>
                </a:solidFill>
                <a:latin typeface="DejaVu Sans Mono"/>
                <a:ea typeface="DejaVu Sans Mono"/>
                <a:cs typeface="DejaVu Sans Mono"/>
              </a:rPr>
              <a:t>q7</a:t>
            </a: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3429000" y="37433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429000" y="3914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29" name="矩形: 圆角 28"/>
          <p:cNvSpPr>
            <a:spLocks noGrp="1"/>
          </p:cNvSpPr>
          <p:nvPr/>
        </p:nvSpPr>
        <p:spPr>
          <a:xfrm>
            <a:off x="4619625" y="33432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619625" y="35147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4619625" y="41433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619625" y="43148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33" name="矩形: 圆角 32"/>
          <p:cNvSpPr>
            <a:spLocks noGrp="1"/>
          </p:cNvSpPr>
          <p:nvPr/>
        </p:nvSpPr>
        <p:spPr>
          <a:xfrm>
            <a:off x="5810250" y="29432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810250" y="31146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5810250" y="37433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810250" y="3914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37" name="矩形: 圆角 36"/>
          <p:cNvSpPr>
            <a:spLocks noGrp="1"/>
          </p:cNvSpPr>
          <p:nvPr/>
        </p:nvSpPr>
        <p:spPr>
          <a:xfrm>
            <a:off x="5810250" y="45434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810250" y="47148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39" name="矩形: 圆角 38"/>
          <p:cNvSpPr>
            <a:spLocks noGrp="1"/>
          </p:cNvSpPr>
          <p:nvPr/>
        </p:nvSpPr>
        <p:spPr>
          <a:xfrm>
            <a:off x="7000875" y="25431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000875" y="27146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41" name="矩形: 圆角 40"/>
          <p:cNvSpPr>
            <a:spLocks noGrp="1"/>
          </p:cNvSpPr>
          <p:nvPr/>
        </p:nvSpPr>
        <p:spPr>
          <a:xfrm>
            <a:off x="7000875" y="33432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000875" y="35147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43" name="矩形: 圆角 42"/>
          <p:cNvSpPr>
            <a:spLocks noGrp="1"/>
          </p:cNvSpPr>
          <p:nvPr/>
        </p:nvSpPr>
        <p:spPr>
          <a:xfrm>
            <a:off x="7000875" y="41433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00875" y="43148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45" name="矩形: 圆角 44"/>
          <p:cNvSpPr>
            <a:spLocks noGrp="1"/>
          </p:cNvSpPr>
          <p:nvPr/>
        </p:nvSpPr>
        <p:spPr>
          <a:xfrm>
            <a:off x="7000875" y="49434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000875" y="51149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47" name="矩形: 圆角 46"/>
          <p:cNvSpPr>
            <a:spLocks noGrp="1"/>
          </p:cNvSpPr>
          <p:nvPr/>
        </p:nvSpPr>
        <p:spPr>
          <a:xfrm>
            <a:off x="8191500" y="29432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191500" y="31146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49" name="矩形: 圆角 48"/>
          <p:cNvSpPr>
            <a:spLocks noGrp="1"/>
          </p:cNvSpPr>
          <p:nvPr/>
        </p:nvSpPr>
        <p:spPr>
          <a:xfrm>
            <a:off x="8191500" y="37433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191500" y="39147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51" name="矩形: 圆角 50"/>
          <p:cNvSpPr>
            <a:spLocks noGrp="1"/>
          </p:cNvSpPr>
          <p:nvPr/>
        </p:nvSpPr>
        <p:spPr>
          <a:xfrm>
            <a:off x="8191500" y="454342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471487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53" name="矩形: 圆角 52"/>
          <p:cNvSpPr>
            <a:spLocks noGrp="1"/>
          </p:cNvSpPr>
          <p:nvPr/>
        </p:nvSpPr>
        <p:spPr>
          <a:xfrm>
            <a:off x="9382125" y="33432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382125" y="35147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9382125" y="4143375"/>
            <a:ext cx="552450" cy="647700"/>
          </a:xfrm>
          <a:prstGeom prst="roundRect">
            <a:avLst>
              <a:gd name="adj" fmla="val 20690"/>
            </a:avLst>
          </a:prstGeom>
          <a:solidFill>
            <a:srgbClr val="F6F7F8"/>
          </a:solidFill>
          <a:ln w="14288">
            <a:solidFill>
              <a:srgbClr val="3D8D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382125" y="4314825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15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G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667000" y="5953125"/>
            <a:ext cx="714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Diamond nearest-neighbour Givens mesh: rotate the occupied subspace, not individual amplitudes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8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8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SQISWAP and RZ exactly compile a real orbital rotation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>
                <a:spLocks noGrp="1"/>
              </p:cNvSpPr>
              <p:nvPr/>
            </p:nvSpPr>
            <p:spPr>
              <a:xfrm>
                <a:off x="457200" y="1666875"/>
                <a:ext cx="5143500" cy="5334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l">
                  <a:lnSpc>
                    <a:spcPct val="100000"/>
                  </a:lnSpc>
                  <a:buNone/>
                  <a:defRPr sz="1400" b="1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000"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66875"/>
                <a:ext cx="5143500" cy="5334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457200" y="2457450"/>
                <a:ext cx="4762500" cy="2476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l">
                  <a:lnSpc>
                    <a:spcPct val="105000"/>
                  </a:lnSpc>
                  <a:buNone/>
                  <a:defRPr sz="1100" b="0">
                    <a:solidFill>
                      <a:srgbClr val="5F6670"/>
                    </a:solidFill>
                    <a:latin typeface="DejaVu Sans Mono"/>
                    <a:ea typeface="DejaVu Sans Mono"/>
                    <a:cs typeface="DejaVu San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sz="2000">
                              <a:latin typeface="Cambria Math" panose="02040503050406030204" pitchFamily="18" charset="0"/>
                            </a:rPr>
                            <m:t>SWAP</m:t>
                          </m:r>
                        </m:e>
                      </m:ra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57450"/>
                <a:ext cx="4762500" cy="24765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/>
          <p:cNvSpPr>
            <a:spLocks noGrp="1"/>
          </p:cNvSpPr>
          <p:nvPr/>
        </p:nvSpPr>
        <p:spPr>
          <a:xfrm>
            <a:off x="5857875" y="1676400"/>
            <a:ext cx="5381625" cy="2381250"/>
          </a:xfrm>
          <a:prstGeom prst="roundRect">
            <a:avLst>
              <a:gd name="adj" fmla="val 4800"/>
            </a:avLst>
          </a:prstGeom>
          <a:solidFill>
            <a:srgbClr val="101419"/>
          </a:solidFill>
          <a:ln w="9525">
            <a:solidFill>
              <a:srgbClr val="10141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48375" y="1847850"/>
            <a:ext cx="5000625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50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SQISWAP q[b],q[a]</a:t>
            </a:r>
          </a:p>
          <a:p>
            <a:pPr>
              <a:lnSpc>
                <a:spcPct val="108000"/>
              </a:lnSpc>
              <a:defRPr sz="150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RZ q[a],(</a:t>
            </a:r>
            <a:r>
              <a:rPr lang="el-GR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π + θ)</a:t>
            </a:r>
          </a:p>
          <a:p>
            <a:pPr>
              <a:lnSpc>
                <a:spcPct val="108000"/>
              </a:lnSpc>
              <a:defRPr sz="150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RZ q[b],(-</a:t>
            </a:r>
            <a:r>
              <a:rPr lang="el-GR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θ)</a:t>
            </a:r>
          </a:p>
          <a:p>
            <a:pPr>
              <a:lnSpc>
                <a:spcPct val="108000"/>
              </a:lnSpc>
              <a:defRPr sz="150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SQISWAP q[b],q[a]</a:t>
            </a:r>
          </a:p>
          <a:p>
            <a:pPr>
              <a:lnSpc>
                <a:spcPct val="108000"/>
              </a:lnSpc>
              <a:defRPr sz="150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RZ q[a],(</a:t>
            </a:r>
            <a:r>
              <a:rPr lang="el-GR" altLang="zh-CN" sz="14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π)</a:t>
            </a: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5857875" y="4400550"/>
            <a:ext cx="5381625" cy="857250"/>
          </a:xfrm>
          <a:prstGeom prst="roundRect">
            <a:avLst>
              <a:gd name="adj" fmla="val 13333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5857875" y="4400550"/>
                <a:ext cx="5381625" cy="857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single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particle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action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: 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875" y="4400550"/>
                <a:ext cx="5381625" cy="8572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>
            <a:spLocks noGrp="1"/>
          </p:cNvSpPr>
          <p:nvPr/>
        </p:nvSpPr>
        <p:spPr>
          <a:xfrm>
            <a:off x="5857875" y="5572125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Every corrected circuit in this package emits explicit radians, eliminating exponent-versus-API ambiguity.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1C3430-87A9-5CF6-9F85-A45E61F687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253607"/>
            <a:ext cx="4139688" cy="1875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9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9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Two-mode interference maps coherence to occupation difference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457200" y="1619250"/>
            <a:ext cx="5095875" cy="238125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8859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Diagonal: measure Z directly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Grp="1"/>
              </p:cNvSpPr>
              <p:nvPr/>
            </p:nvSpPr>
            <p:spPr>
              <a:xfrm>
                <a:off x="723900" y="2476500"/>
                <a:ext cx="4572000" cy="857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2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=⟨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⟩=</m:t>
                      </m:r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>
                              <a:latin typeface="Cambria Math" panose="02040503050406030204" pitchFamily="18" charset="0"/>
                            </a:rPr>
                            <m:t>1−⟨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⟩</m:t>
                          </m:r>
                        </m:num>
                        <m:den>
                          <m:r>
                            <a:rPr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476500"/>
                <a:ext cx="4572000" cy="857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>
            <a:spLocks noGrp="1"/>
          </p:cNvSpPr>
          <p:nvPr/>
        </p:nvSpPr>
        <p:spPr>
          <a:xfrm>
            <a:off x="819150" y="34766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setting returns all eight diagonal entries</a:t>
            </a: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5953125" y="1619250"/>
            <a:ext cx="5476875" cy="2381250"/>
          </a:xfrm>
          <a:prstGeom prst="roundRect">
            <a:avLst>
              <a:gd name="adj" fmla="val 4800"/>
            </a:avLst>
          </a:prstGeom>
          <a:solidFill>
            <a:srgbClr val="EAF5FB"/>
          </a:solidFill>
          <a:ln w="12383">
            <a:solidFill>
              <a:srgbClr val="3D8DFF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6238875" y="1885950"/>
                <a:ext cx="4905375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l">
                  <a:lnSpc>
                    <a:spcPct val="100000"/>
                  </a:lnSpc>
                  <a:buNone/>
                  <a:defRPr sz="1450" b="1">
                    <a:solidFill>
                      <a:srgbClr val="3D8D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t>Off-diagonal: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  <m:r>
                      <a:rPr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r>
                  <a:t> two-mode analyser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75" y="1885950"/>
                <a:ext cx="4905375" cy="4000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/>
          <p:cNvSpPr>
            <a:spLocks noGrp="1"/>
          </p:cNvSpPr>
          <p:nvPr/>
        </p:nvSpPr>
        <p:spPr>
          <a:xfrm>
            <a:off x="6334125" y="2476500"/>
            <a:ext cx="4619625" cy="1219200"/>
          </a:xfrm>
          <a:prstGeom prst="roundRect">
            <a:avLst>
              <a:gd name="adj" fmla="val 9375"/>
            </a:avLst>
          </a:prstGeom>
          <a:solidFill>
            <a:srgbClr val="101419"/>
          </a:solidFill>
          <a:ln w="9525">
            <a:solidFill>
              <a:srgbClr val="10141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2647950"/>
            <a:ext cx="4238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2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RZ q[a],(</a:t>
            </a:r>
            <a:r>
              <a:rPr lang="el-GR" altLang="zh-CN" sz="12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π/4)</a:t>
            </a:r>
          </a:p>
          <a:p>
            <a:pPr>
              <a:lnSpc>
                <a:spcPct val="108000"/>
              </a:lnSpc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2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RZ q[b],(-</a:t>
            </a:r>
            <a:r>
              <a:rPr lang="el-GR" altLang="zh-CN" sz="12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π/4)</a:t>
            </a:r>
          </a:p>
          <a:p>
            <a:pPr>
              <a:lnSpc>
                <a:spcPct val="108000"/>
              </a:lnSpc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altLang="zh-CN" sz="1200" dirty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SQISWAP q[b],q[a]</a:t>
            </a: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1762125" y="4381500"/>
            <a:ext cx="8667750" cy="742950"/>
          </a:xfrm>
          <a:prstGeom prst="roundRect">
            <a:avLst>
              <a:gd name="adj" fmla="val 15385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>
                <a:spLocks noGrp="1"/>
              </p:cNvSpPr>
              <p:nvPr/>
            </p:nvSpPr>
            <p:spPr>
              <a:xfrm>
                <a:off x="1762125" y="4381500"/>
                <a:ext cx="8667750" cy="742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0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000">
                          <a:latin typeface="Cambria Math" panose="02040503050406030204" pitchFamily="18" charset="0"/>
                        </a:rPr>
                        <m:t>Re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>
                              <a:latin typeface="Cambria Math" panose="02040503050406030204" pitchFamily="18" charset="0"/>
                            </a:rPr>
                            <m:t>⟨</m:t>
                          </m:r>
                          <m:sSubSup>
                            <m:sSubSup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sz="2000">
                              <a:latin typeface="Cambria Math" panose="02040503050406030204" pitchFamily="18" charset="0"/>
                            </a:rPr>
                            <m:t>⟩−⟨</m:t>
                          </m:r>
                          <m:sSubSup>
                            <m:sSubSup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sz="2000">
                              <a:latin typeface="Cambria Math" panose="02040503050406030204" pitchFamily="18" charset="0"/>
                            </a:rPr>
                            <m:t>⟩</m:t>
                          </m:r>
                        </m:num>
                        <m:den>
                          <m:r>
                            <a:rPr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6" name="矩形 15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4381500"/>
                <a:ext cx="8667750" cy="742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1143000" y="5429250"/>
                <a:ext cx="9906000" cy="647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00" b="0">
                    <a:solidFill>
                      <a:srgbClr val="C83E4D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general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m:rPr>
                          <m:nor/>
                        </m:rPr>
                        <a:rPr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: 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/2=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Im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5429250"/>
                <a:ext cx="9906000" cy="6477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ion-10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2" name="title-10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Nine circuits recover the full real 8×8 1‑RDM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 · THEORY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57200" y="1571625"/>
          <a:ext cx="11277600" cy="4191000"/>
        </p:xfrm>
        <a:graphic>
          <a:graphicData uri="http://schemas.openxmlformats.org/drawingml/2006/table">
            <a:tbl>
              <a:tblPr firstRow="1" band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setting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orbital order 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physical edges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recovered γᵢⱼ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0 1 2 3 4 5 6 7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Z on all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00,11,…,77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p0_even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0 1 2 3 4 5 6 7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01 23 45 67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01 23 45 67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p0_odd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0 1 2 3 4 5 6 7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12 34 56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12 34 56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p1_even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1 3 0 5 2 7 4 6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01 23 45 67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13 05 27 46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p1_odd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1 3 0 5 2 7 4 6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12 34 56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03 25 47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p2_even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3 5 1 7 0 6 2 4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01 23 45 67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35 17 06 24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p2_odd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3 5 1 7 0 6 2 4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12 34 56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15 07 26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p3_even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5 7 3 6 1 4 0 2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01 23 45 67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57 36 14 02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p3_odd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5 7 3 6 1 4 0 2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12 34 56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37 16 04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1428750" y="59055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Virtual swapping adds no measurement gates: relabel the modes, then recompile state preparation.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1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III · VISUALIZATION</a:t>
            </a:r>
          </a:p>
        </p:txBody>
      </p:sp>
      <p:sp>
        <p:nvSpPr>
          <p:cNvPr id="3" name="title-11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901" lnSpcReduction="1000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Three views jointly validate structure, physicality, and finite-shot agreement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III · VISUALIZATION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23875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47625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 1-RDM heatmap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4375" y="5257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 occupations and coherences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267200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267200" y="47625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Natural occupations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5257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small excursions are compatible with 1000 shots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10525" y="1666875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10525" y="47625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Per-setting TV distance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01025" y="5257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nine settings lie inside their 95% envelopes</a:t>
            </a:r>
          </a:p>
        </p:txBody>
      </p:sp>
      <p:graphicFrame>
        <p:nvGraphicFramePr>
          <p:cNvPr id="37" name="v3-raw-rdm-overview"/>
          <p:cNvGraphicFramePr/>
          <p:nvPr/>
        </p:nvGraphicFramePr>
        <p:xfrm>
          <a:off x="523875" y="1677067"/>
          <a:ext cx="3333752" cy="2837024"/>
        </p:xfrm>
        <a:graphic>
          <a:graphicData uri="http://schemas.openxmlformats.org/drawingml/2006/table">
            <a:tbl>
              <a:tblPr/>
              <a:tblGrid>
                <a:gridCol w="41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66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D9E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66C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EB7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FC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A5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EB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0C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0C8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D9E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FC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EFC3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9FB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0C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1D3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1D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A5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9FB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2DD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0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1D4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525">
                        <a:solidFill>
                          <a:srgbClr val="172033"/>
                        </a:solidFill>
                      </a:endParaRPr>
                    </a:p>
                  </a:txBody>
                  <a:tcPr>
                    <a:solidFill>
                      <a:srgbClr val="F1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8" name="v3-natural-occupations-overview"/>
          <p:cNvGraphicFramePr/>
          <p:nvPr/>
        </p:nvGraphicFramePr>
        <p:xfrm>
          <a:off x="4267200" y="1771650"/>
          <a:ext cx="33337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v3-setting-tv-overview"/>
          <p:cNvGraphicFramePr/>
          <p:nvPr/>
        </p:nvGraphicFramePr>
        <p:xfrm>
          <a:off x="8010525" y="1724025"/>
          <a:ext cx="333375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5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5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087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 closes the minimal quantum Hartree–Fock loop with two qubits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619250"/>
            <a:ext cx="5238750" cy="2857500"/>
          </a:xfrm>
          <a:prstGeom prst="roundRect">
            <a:avLst>
              <a:gd name="adj" fmla="val 4000"/>
            </a:avLst>
          </a:prstGeom>
          <a:solidFill>
            <a:srgbClr val="101419"/>
          </a:solidFill>
          <a:ln w="9525">
            <a:solidFill>
              <a:srgbClr val="10141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1790700"/>
            <a:ext cx="48577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RHF/STO-3G · R=0.7414 Å · c=(1/√2,1/√2) · θ=π/4</a:t>
            </a:r>
          </a:p>
          <a:p>
            <a:endParaRPr sz="1350"/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X q[0] → G(θ)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Z setting → γ₀₀, γ₁₁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π/4 analyser → Re γ₀₁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1666875"/>
            <a:ext cx="1476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2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45237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qubits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0" y="16192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225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rPr>
              <a:t>1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245237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particle per spin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319087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rPr>
              <a:t>2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39052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measurement settings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3190875"/>
            <a:ext cx="256794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39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−1.11668</a:t>
            </a:r>
            <a:r>
              <a:rPr lang="en-US" sz="39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4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39052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RHF reference / Ha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57200" y="4953000"/>
            <a:ext cx="10810875" cy="1000125"/>
          </a:xfrm>
          <a:prstGeom prst="roundRect">
            <a:avLst>
              <a:gd name="adj" fmla="val 11429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>
                <a:spLocks noGrp="1"/>
              </p:cNvSpPr>
              <p:nvPr/>
            </p:nvSpPr>
            <p:spPr>
              <a:xfrm>
                <a:off x="781050" y="5191125"/>
                <a:ext cx="1019175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500" b="1">
                    <a:solidFill>
                      <a:srgbClr val="3D8D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500" b="1">
                    <a:solidFill>
                      <a:srgbClr val="3D8D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One loop: prepare a Slater state → measure γ → evaluate </a:t>
                </a:r>
                <a:r>
                  <a:rPr b="0">
                    <a:solidFill>
                      <a:srgbClr val="5F6670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𝑅𝐻𝐹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[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𝛾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]</m:t>
                        </m:r>
                      </m:sub>
                    </m:sSub>
                  </m:oMath>
                </a14:m>
                <a:r>
                  <a:rPr sz="1500" b="1">
                    <a:solidFill>
                      <a:srgbClr val="3D8D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with same-basis integrals.</a:t>
                </a: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5191125"/>
                <a:ext cx="10191750" cy="5524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4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4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3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 measured distributions become the H₂ total energy in six steps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</a:p>
        </p:txBody>
      </p:sp>
      <p:sp>
        <p:nvSpPr>
          <p:cNvPr id="8" name="直接连接符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619500" y="2714625"/>
            <a:ext cx="809625" cy="0"/>
          </a:xfrm>
          <a:prstGeom prst="line">
            <a:avLst/>
          </a:prstGeom>
          <a:noFill/>
          <a:ln w="23813">
            <a:solidFill>
              <a:srgbClr val="3D8DFF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29500" y="2714625"/>
            <a:ext cx="809625" cy="0"/>
          </a:xfrm>
          <a:prstGeom prst="line">
            <a:avLst/>
          </a:prstGeom>
          <a:noFill/>
          <a:ln w="23813">
            <a:solidFill>
              <a:srgbClr val="3D8DFF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144125" y="3619500"/>
            <a:ext cx="0" cy="714375"/>
          </a:xfrm>
          <a:prstGeom prst="line">
            <a:avLst/>
          </a:prstGeom>
          <a:noFill/>
          <a:ln w="23813">
            <a:solidFill>
              <a:srgbClr val="3D8DFF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429500" y="5143500"/>
            <a:ext cx="809625" cy="0"/>
          </a:xfrm>
          <a:prstGeom prst="line">
            <a:avLst/>
          </a:prstGeom>
          <a:noFill/>
          <a:ln w="23813">
            <a:solidFill>
              <a:srgbClr val="3D8DFF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19500" y="5143500"/>
            <a:ext cx="809625" cy="0"/>
          </a:xfrm>
          <a:prstGeom prst="line">
            <a:avLst/>
          </a:prstGeom>
          <a:noFill/>
          <a:ln w="23813">
            <a:solidFill>
              <a:srgbClr val="3D8DFF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62000" y="195262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EAF5FB"/>
          </a:solidFill>
          <a:ln w="11430">
            <a:solidFill>
              <a:srgbClr val="3D8D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52500" y="21240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04950" y="21050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 JSON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90600" y="2695575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 · key/value · probability sum</a:t>
            </a: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572000" y="195262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EAF5FB"/>
          </a:solidFill>
          <a:ln w="11430">
            <a:solidFill>
              <a:srgbClr val="3D8D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762500" y="21240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314950" y="21050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 conventions</a:t>
            </a: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800600" y="2695575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1000 shots · key=q1q0</a:t>
            </a: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382000" y="195262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572500" y="21240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24950" y="21050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Post-select</a:t>
            </a: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610600" y="2695575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keep only N=1 outcomes 01/10</a:t>
            </a:r>
          </a:p>
        </p:txBody>
      </p:sp>
      <p:sp>
        <p:nvSpPr>
          <p:cNvPr id="25" name="圆角矩形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382000" y="433387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572500" y="45053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124950" y="44862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 1-RDM</a:t>
            </a: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610600" y="5076825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diagonal populations + coherence</a:t>
            </a:r>
          </a:p>
        </p:txBody>
      </p:sp>
      <p:sp>
        <p:nvSpPr>
          <p:cNvPr id="29" name="圆角矩形 28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4572000" y="433387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4762500" y="45053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31" name="矩形 30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5314950" y="44862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Physical/statistical</a:t>
            </a: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4800600" y="5076825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rank-1 projection · bootstrap</a:t>
            </a:r>
          </a:p>
        </p:txBody>
      </p:sp>
      <p:sp>
        <p:nvSpPr>
          <p:cNvPr id="33" name="圆角矩形 32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762000" y="4333875"/>
            <a:ext cx="3048000" cy="1524000"/>
          </a:xfrm>
          <a:prstGeom prst="roundRect">
            <a:avLst>
              <a:gd name="adj" fmla="val 7500"/>
            </a:avLst>
          </a:prstGeom>
          <a:solidFill>
            <a:srgbClr val="F6F7F8"/>
          </a:solidFill>
          <a:ln w="11430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952500" y="45053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1504950" y="44862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 energy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990600" y="5076825"/>
                <a:ext cx="259080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275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275" b="0">
                    <a:solidFill>
                      <a:srgbClr val="5F667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same-geometry h, ERI,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𝑛𝑢𝑐</m:t>
                        </m:r>
                      </m:sub>
                    </m:sSub>
                  </m:oMath>
                </a14:m>
                <a:endParaRPr sz="1275" b="0">
                  <a:solidFill>
                    <a:srgbClr val="5F667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990600" y="5076825"/>
                <a:ext cx="2590800" cy="552450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3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3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52"/>
          </a:bodyPr>
          <a:lstStyle/>
          <a:p>
            <a:pPr algn="l">
              <a:lnSpc>
                <a:spcPct val="100000"/>
              </a:lnSpc>
              <a:buNone/>
              <a:defRPr sz="30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zero-gate-noise simulator closes H₂ within chemical accuracy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619250"/>
            <a:ext cx="4381500" cy="371475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143500" y="1619250"/>
            <a:ext cx="6524625" cy="371475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333500" y="5572125"/>
            <a:ext cx="9525000" cy="590550"/>
          </a:xfrm>
          <a:prstGeom prst="roundRect">
            <a:avLst>
              <a:gd name="adj" fmla="val 19355"/>
            </a:avLst>
          </a:prstGeom>
          <a:solidFill>
            <a:srgbClr val="FCEBED"/>
          </a:solidFill>
          <a:ln w="11430">
            <a:solidFill>
              <a:srgbClr val="C83E4D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1571625" y="5715000"/>
                <a:ext cx="9048750" cy="3238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425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r>
                  <a:rPr sz="1425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=−1.116746 Ha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𝑟𝑎𝑛𝑘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sz="1425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=−1.116107 Ha</a:t>
                </a:r>
                <a:r>
                  <a:rPr lang="en-US" sz="1425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r>
                  <a:rPr sz="1425" b="1">
                    <a:solidFill>
                      <a:srgbClr val="C83E4D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both satisfy |ΔE|&lt;1.594 mHa.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5" y="5715000"/>
                <a:ext cx="9048750" cy="3238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v4-h2-simulator-probabilities"/>
          <p:cNvGraphicFramePr/>
          <p:nvPr/>
        </p:nvGraphicFramePr>
        <p:xfrm>
          <a:off x="657225" y="1809750"/>
          <a:ext cx="39814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v4-h2-simulator-energy-error"/>
          <p:cNvGraphicFramePr/>
          <p:nvPr/>
        </p:nvGraphicFramePr>
        <p:xfrm>
          <a:off x="5314950" y="1743075"/>
          <a:ext cx="6162675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2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2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94"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Particle-number post-selection cannot rescue the Wukong result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581150"/>
            <a:ext cx="4762500" cy="3905250"/>
          </a:xfrm>
          <a:prstGeom prst="roundRect">
            <a:avLst>
              <a:gd name="adj" fmla="val 292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572125" y="1581150"/>
            <a:ext cx="6096000" cy="3429000"/>
          </a:xfrm>
          <a:prstGeom prst="roundRect">
            <a:avLst>
              <a:gd name="adj" fmla="val 3333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715000" y="51244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85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rPr>
              <a:t>54.2%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0" y="566737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P(N=1) · Z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5124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850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rPr>
              <a:t>9.3%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566737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P(N=1) · analyser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67875" y="51244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325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rPr>
              <a:t>0.259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67875" y="5667375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one-spin orbital F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19750" y="6153150"/>
            <a:ext cx="595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rank-1: E=+0.181230 Ha</a:t>
            </a:r>
            <a:r>
              <a:rPr lang="en-US" sz="105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105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ΔE=+1297.9 mHa → FAIL</a:t>
            </a:r>
          </a:p>
        </p:txBody>
      </p:sp>
      <p:graphicFrame>
        <p:nvGraphicFramePr>
          <p:cNvPr id="35" name="v4-h2-wukong-gamma"/>
          <p:cNvGraphicFramePr/>
          <p:nvPr/>
        </p:nvGraphicFramePr>
        <p:xfrm>
          <a:off x="543973" y="1581150"/>
          <a:ext cx="4588956" cy="3905250"/>
        </p:xfrm>
        <a:graphic>
          <a:graphicData uri="http://schemas.openxmlformats.org/drawingml/2006/table">
            <a:tbl>
              <a:tblPr/>
              <a:tblGrid>
                <a:gridCol w="152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17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</a:rPr>
                        <a:t>γ (N=1)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</a:rPr>
                        <a:t>q0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7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</a:rPr>
                        <a:t>q0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</a:rPr>
                        <a:t>0.020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</a:rPr>
                        <a:t>−0.263</a:t>
                      </a:r>
                    </a:p>
                  </a:txBody>
                  <a:tcPr>
                    <a:solidFill>
                      <a:srgbClr val="D7E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7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</a:rPr>
                        <a:t>−0.263</a:t>
                      </a:r>
                    </a:p>
                  </a:txBody>
                  <a:tcPr>
                    <a:solidFill>
                      <a:srgbClr val="D7E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>
                          <a:solidFill>
                            <a:srgbClr val="172033"/>
                          </a:solidFill>
                        </a:rPr>
                        <a:t>0.980</a:t>
                      </a:r>
                    </a:p>
                  </a:txBody>
                  <a:tcPr>
                    <a:solidFill>
                      <a:srgbClr val="F9D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v4-h2-wukong-particle-sectors"/>
          <p:cNvGraphicFramePr/>
          <p:nvPr/>
        </p:nvGraphicFramePr>
        <p:xfrm>
          <a:off x="5669566" y="1581150"/>
          <a:ext cx="5901023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6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6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20"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same H₂ circuit passes in simulation and fails on Wukong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666875"/>
            <a:ext cx="5238750" cy="3238500"/>
          </a:xfrm>
          <a:prstGeom prst="roundRect">
            <a:avLst>
              <a:gd name="adj" fmla="val 3529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1952625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Relaxation-model simulator · PASS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Grp="1"/>
              </p:cNvSpPr>
              <p:nvPr/>
            </p:nvSpPr>
            <p:spPr>
              <a:xfrm>
                <a:off x="742950" y="2667000"/>
                <a:ext cx="4572000" cy="1714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marL="0" indent="0" algn="l">
                  <a:spcAft>
                    <a:spcPts val="10"/>
                  </a:spcAft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relaxation model selected; 1Q/2Q noise parameters=0</a:t>
                </a:r>
              </a:p>
              <a:p>
                <a:pPr marL="0" algn="l">
                  <a:spcAft>
                    <a:spcPts val="10"/>
                  </a:spcAft>
                  <a:buClrTx/>
                  <a:buSzTx/>
                  <a:buFontTx/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:r>
                  <a: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Z: 0.484 / 0.516; analyser q0=1</a:t>
                </a:r>
              </a:p>
              <a:p>
                <a:pPr marL="0" algn="l">
                  <a:spcAft>
                    <a:spcPts val="10"/>
                  </a:spcAft>
                  <a:buClrTx/>
                  <a:buSzTx/>
                  <a:buFontTx/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r>
                  <a: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=−1.116746 Ha</a:t>
                </a:r>
              </a:p>
              <a:p>
                <a:pPr marL="0" algn="l">
                  <a:spcAft>
                    <a:spcPts val="10"/>
                  </a:spcAft>
                  <a:buClrTx/>
                  <a:buSzTx/>
                  <a:buFontTx/>
                  <a:buChar char="•"/>
                  <a:def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𝑟𝑎𝑛𝑘</m:t>
                        </m:r>
                        <m:r>
                          <a:rPr>
                            <a:latin typeface="Cambria Math" panose="02040503050406030204" pitchFamily="18" charset="0"/>
                            <a:sym typeface="+mn-ea"/>
                          </a:rPr>
                          <m:t>−1</m:t>
                        </m:r>
                      </m:sub>
                    </m:sSub>
                  </m:oMath>
                </a14:m>
                <a:r>
                  <a:rPr sz="1500" b="0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=−1.116107 Ha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2667000"/>
                <a:ext cx="4572000" cy="17145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/>
          <p:cNvSpPr>
            <a:spLocks noGrp="1"/>
          </p:cNvSpPr>
          <p:nvPr/>
        </p:nvSpPr>
        <p:spPr>
          <a:xfrm>
            <a:off x="6000750" y="1666875"/>
            <a:ext cx="5238750" cy="3238500"/>
          </a:xfrm>
          <a:prstGeom prst="roundRect">
            <a:avLst>
              <a:gd name="adj" fmla="val 3529"/>
            </a:avLst>
          </a:prstGeom>
          <a:solidFill>
            <a:srgbClr val="EAF5FB"/>
          </a:solidFill>
          <a:ln w="12383">
            <a:solidFill>
              <a:srgbClr val="3D8D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952625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Wukong 180 qubits · FAIL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2619375"/>
            <a:ext cx="400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7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+0.181230 Ha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3190875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rank-1 processed energy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3714750"/>
            <a:ext cx="400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70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rPr>
              <a:t>+1297.9 mHa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4286250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error relative to RHF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809750" y="5334000"/>
            <a:ext cx="8572500" cy="685800"/>
          </a:xfrm>
          <a:prstGeom prst="roundRect">
            <a:avLst>
              <a:gd name="adj" fmla="val 16667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>
                <a:spLocks noGrp="1"/>
              </p:cNvSpPr>
              <p:nvPr/>
            </p:nvSpPr>
            <p:spPr>
              <a:xfrm>
                <a:off x="1809750" y="5334000"/>
                <a:ext cx="8572500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71450" tIns="133350" rIns="171450" bIns="133350" anchor="ctr">
                <a:normAutofit fontScale="90000"/>
              </a:bodyPr>
              <a:lstStyle/>
              <a:p>
                <a:pPr algn="ctr">
                  <a:lnSpc>
                    <a:spcPct val="100000"/>
                  </a:lnSpc>
                  <a:buNone/>
                  <a:defRPr sz="22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sz="22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=−1.116684 Ha; |Δ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</m:oMath>
                </a14:m>
                <a:r>
                  <a:rPr sz="22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|&lt;1.594 mHa, while |Δ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Wukong</m:t>
                        </m:r>
                      </m:sub>
                    </m:sSub>
                  </m:oMath>
                </a14:m>
                <a:r>
                  <a:rPr sz="2250" b="0">
                    <a:solidFill>
                      <a:srgbClr val="000000"/>
                    </a:solidFill>
                    <a:latin typeface="Latin Modern Math"/>
                    <a:ea typeface="Latin Modern Math"/>
                    <a:cs typeface="Latin Modern Math"/>
                  </a:rPr>
                  <a:t>|≫1.594 mHa</a:t>
                </a: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0" y="5334000"/>
                <a:ext cx="8572500" cy="6858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7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 to H₈ changes scale, not the 1-RDM logic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76212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714500" y="17811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size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29125" y="1781175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H₂: 2 modes/1 particle; H₈: 8 modes/4 particles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66750" y="2676525"/>
            <a:ext cx="106680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3143250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14500" y="31623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Measurement size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29125" y="3162300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H₂: 2 settings; H₈: 1 diagonal + 8 interference settings</a:t>
            </a: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66750" y="4057650"/>
            <a:ext cx="106680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" y="452437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14500" y="45434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139" lnSpcReduction="20000"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bottleneck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29125" y="4543425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deeper Givens network amplifies gate errors and leakage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714500" y="5810250"/>
            <a:ext cx="8763000" cy="400050"/>
          </a:xfrm>
          <a:prstGeom prst="roundRect">
            <a:avLst>
              <a:gd name="adj" fmla="val 28571"/>
            </a:avLst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905000" y="58864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476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 core: Slater preparation → γ reconstruction → physical projection → E_HF[γ] when integrals match.</a:t>
            </a:r>
          </a:p>
        </p:txBody>
      </p:sp>
      <p:sp>
        <p:nvSpPr>
          <p:cNvPr id="20" name="v3-section-17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5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5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Nine settings reconstruct the complete real H₈ 1-RDM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619250"/>
            <a:ext cx="5238750" cy="2857500"/>
          </a:xfrm>
          <a:prstGeom prst="roundRect">
            <a:avLst>
              <a:gd name="adj" fmla="val 4000"/>
            </a:avLst>
          </a:prstGeom>
          <a:solidFill>
            <a:srgbClr val="101419"/>
          </a:solidFill>
          <a:ln w="9525">
            <a:solidFill>
              <a:srgbClr val="10141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1790700"/>
            <a:ext cx="485775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8 modes · 4 particles · X q[0..3] → Givens network</a:t>
            </a:r>
          </a:p>
          <a:p>
            <a:endParaRPr sz="1350"/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1 Z setting → 8 diagonal entries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4 permutations × even/odd analysers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EAF5FB"/>
                </a:solidFill>
                <a:latin typeface="DejaVu Sans Mono"/>
                <a:ea typeface="DejaVu Sans Mono"/>
                <a:cs typeface="DejaVu Sans Mono"/>
              </a:rPr>
              <a:t>→ 28 real off-diagonal entries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1666875"/>
            <a:ext cx="1476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8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381250"/>
            <a:ext cx="1476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qubits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0" y="16192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225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rPr>
              <a:t>4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238125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particles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3190875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5F6670"/>
                </a:solidFill>
                <a:latin typeface="Latin Modern Math"/>
                <a:ea typeface="Latin Modern Math"/>
                <a:cs typeface="Latin Modern Math"/>
              </a:rPr>
              <a:t>9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39052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 settings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3190875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4000" b="1">
                <a:solidFill>
                  <a:srgbClr val="3D8DFF"/>
                </a:solidFill>
                <a:latin typeface="Latin Modern Math"/>
                <a:ea typeface="Latin Modern Math"/>
                <a:cs typeface="Latin Modern Math"/>
              </a:rPr>
              <a:t>36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39052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independent real entries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57200" y="4953000"/>
            <a:ext cx="10810875" cy="1000125"/>
          </a:xfrm>
          <a:prstGeom prst="roundRect">
            <a:avLst>
              <a:gd name="adj" fmla="val 11429"/>
            </a:avLst>
          </a:prstGeom>
          <a:solidFill>
            <a:srgbClr val="EAF5FB"/>
          </a:solidFill>
          <a:ln w="9525">
            <a:solidFill>
              <a:srgbClr val="D0EDF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191125"/>
            <a:ext cx="1019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 analyser is still a local π/4 interference</a:t>
            </a:r>
            <a:r>
              <a:rPr lang="en-US"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orbital permutations let eight circuits cover all 28 off-diagonal entries.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3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3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69"/>
          </a:bodyPr>
          <a:lstStyle/>
          <a:p>
            <a:pPr algn="l">
              <a:lnSpc>
                <a:spcPct val="100000"/>
              </a:lnSpc>
              <a:buNone/>
              <a:defRPr sz="30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nine H₈ simulator distributions match the corrected circuits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619250"/>
            <a:ext cx="4381500" cy="371475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143500" y="1619250"/>
            <a:ext cx="6524625" cy="3714750"/>
          </a:xfrm>
          <a:prstGeom prst="roundRect">
            <a:avLst>
              <a:gd name="adj" fmla="val 307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333500" y="5572125"/>
            <a:ext cx="9525000" cy="590550"/>
          </a:xfrm>
          <a:prstGeom prst="roundRect">
            <a:avLst>
              <a:gd name="adj" fmla="val 19355"/>
            </a:avLst>
          </a:prstGeom>
          <a:solidFill>
            <a:srgbClr val="FCEBED"/>
          </a:solidFill>
          <a:ln w="11430">
            <a:solidFill>
              <a:srgbClr val="C83E4D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71625" y="571500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5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Mean DTV = 0.05336, inside the 1000-shot 95% interval [0.04654, 0.05896]</a:t>
            </a:r>
            <a:r>
              <a:rPr lang="en-US" sz="14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14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reversed bit order gives 0.94177.</a:t>
            </a:r>
          </a:p>
        </p:txBody>
      </p:sp>
      <p:graphicFrame>
        <p:nvGraphicFramePr>
          <p:cNvPr id="28" name="v3-angle-model-comparison"/>
          <p:cNvGraphicFramePr/>
          <p:nvPr/>
        </p:nvGraphicFramePr>
        <p:xfrm>
          <a:off x="657225" y="1809750"/>
          <a:ext cx="39814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v3-legacy-dtv-label"/>
          <p:cNvSpPr>
            <a:spLocks noGrp="1"/>
          </p:cNvSpPr>
          <p:nvPr/>
        </p:nvSpPr>
        <p:spPr>
          <a:xfrm>
            <a:off x="1352550" y="1352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0.7696</a:t>
            </a:r>
          </a:p>
        </p:txBody>
      </p:sp>
      <p:sp>
        <p:nvSpPr>
          <p:cNvPr id="15" name="v3-corrected-dtv-label"/>
          <p:cNvSpPr>
            <a:spLocks noGrp="1"/>
          </p:cNvSpPr>
          <p:nvPr/>
        </p:nvSpPr>
        <p:spPr>
          <a:xfrm>
            <a:off x="3215640" y="357314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987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987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0.0393</a:t>
            </a:r>
          </a:p>
        </p:txBody>
      </p:sp>
      <p:graphicFrame>
        <p:nvGraphicFramePr>
          <p:cNvPr id="31" name="v3-all-setting-tv"/>
          <p:cNvGraphicFramePr/>
          <p:nvPr/>
        </p:nvGraphicFramePr>
        <p:xfrm>
          <a:off x="5314950" y="1743075"/>
          <a:ext cx="6162675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12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3" name="title-12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H₈ simulator reconstructs a near-rank-4 Slater 1-RDM</a:t>
            </a: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7200" y="1581150"/>
            <a:ext cx="4762500" cy="3905250"/>
          </a:xfrm>
          <a:prstGeom prst="roundRect">
            <a:avLst>
              <a:gd name="adj" fmla="val 292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572125" y="1581150"/>
            <a:ext cx="6096000" cy="3429000"/>
          </a:xfrm>
          <a:prstGeom prst="roundRect">
            <a:avLst>
              <a:gd name="adj" fmla="val 3333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715000" y="51244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850" b="1">
                <a:solidFill>
                  <a:srgbClr val="17845B"/>
                </a:solidFill>
                <a:latin typeface="Latin Modern Math"/>
                <a:ea typeface="Latin Modern Math"/>
                <a:cs typeface="Latin Modern Math"/>
              </a:rPr>
              <a:t>4.000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0" y="566737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 γ · exact N=4 conservation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51244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850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rPr>
              <a:t>0.057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566737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‖γ²−γ‖F · inside shot 95% CI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67875" y="51244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defRPr>
            </a:pPr>
            <a:r>
              <a:rPr sz="2325" b="1">
                <a:solidFill>
                  <a:srgbClr val="C83E4D"/>
                </a:solidFill>
                <a:latin typeface="Latin Modern Math"/>
                <a:ea typeface="Latin Modern Math"/>
                <a:cs typeface="Latin Modern Math"/>
              </a:rPr>
              <a:t>−0.027 / 1.019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67875" y="5667375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 / max natural occupation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19750" y="6153150"/>
            <a:ext cx="595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Ideal 1000-shot CI for ‖γ²−γ‖F: [0.0345, 0.0784] · Slater F=0.996964</a:t>
            </a:r>
          </a:p>
        </p:txBody>
      </p:sp>
      <p:graphicFrame>
        <p:nvGraphicFramePr>
          <p:cNvPr id="35" name="v3-raw-rdm-detail"/>
          <p:cNvGraphicFramePr/>
          <p:nvPr/>
        </p:nvGraphicFramePr>
        <p:xfrm>
          <a:off x="543973" y="1581150"/>
          <a:ext cx="4588955" cy="3905250"/>
        </p:xfrm>
        <a:graphic>
          <a:graphicData uri="http://schemas.openxmlformats.org/drawingml/2006/table">
            <a:tbl>
              <a:tblPr/>
              <a:tblGrid>
                <a:gridCol w="57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6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E66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0.12</a:t>
                      </a:r>
                    </a:p>
                  </a:txBody>
                  <a:tcPr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-0.09</a:t>
                      </a:r>
                    </a:p>
                  </a:txBody>
                  <a:tcPr>
                    <a:solidFill>
                      <a:srgbClr val="D9E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E66C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0.12</a:t>
                      </a:r>
                    </a:p>
                  </a:txBody>
                  <a:tcPr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0.46</a:t>
                      </a:r>
                    </a:p>
                  </a:txBody>
                  <a:tcPr>
                    <a:solidFill>
                      <a:srgbClr val="EEB7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-0.02</a:t>
                      </a: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EFC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-0.26</a:t>
                      </a:r>
                    </a:p>
                  </a:txBody>
                  <a:tcPr>
                    <a:solidFill>
                      <a:srgbClr val="A5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-0.02</a:t>
                      </a:r>
                    </a:p>
                  </a:txBody>
                  <a:tcPr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EEB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0C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0C8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-0.09</a:t>
                      </a:r>
                    </a:p>
                  </a:txBody>
                  <a:tcPr>
                    <a:solidFill>
                      <a:srgbClr val="D9E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EFC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0.37</a:t>
                      </a:r>
                    </a:p>
                  </a:txBody>
                  <a:tcPr>
                    <a:solidFill>
                      <a:srgbClr val="EFC3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-0.28</a:t>
                      </a:r>
                    </a:p>
                  </a:txBody>
                  <a:tcPr>
                    <a:solidFill>
                      <a:srgbClr val="9FB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0C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0.26</a:t>
                      </a:r>
                    </a:p>
                  </a:txBody>
                  <a:tcPr>
                    <a:solidFill>
                      <a:srgbClr val="F1D3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1D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5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-0.26</a:t>
                      </a:r>
                    </a:p>
                  </a:txBody>
                  <a:tcPr>
                    <a:solidFill>
                      <a:srgbClr val="A5C2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-0.28</a:t>
                      </a:r>
                    </a:p>
                  </a:txBody>
                  <a:tcPr>
                    <a:solidFill>
                      <a:srgbClr val="9FB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0.18</a:t>
                      </a:r>
                    </a:p>
                  </a:txBody>
                  <a:tcPr>
                    <a:solidFill>
                      <a:srgbClr val="F2DD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0C8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1D4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-0.01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75">
                          <a:solidFill>
                            <a:srgbClr val="172033"/>
                          </a:solidFill>
                        </a:rPr>
                        <a:t>0.24</a:t>
                      </a:r>
                    </a:p>
                  </a:txBody>
                  <a:tcPr>
                    <a:solidFill>
                      <a:srgbClr val="F1D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6" name="v3-natural-occupations-detail"/>
          <p:cNvGraphicFramePr/>
          <p:nvPr/>
        </p:nvGraphicFramePr>
        <p:xfrm>
          <a:off x="5669566" y="1581150"/>
          <a:ext cx="5901023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7"/>
          <p:cNvSpPr>
            <a:spLocks noGrp="1"/>
          </p:cNvSpPr>
          <p:nvPr/>
        </p:nvSpPr>
        <p:spPr>
          <a:xfrm>
            <a:off x="457200" y="514350"/>
            <a:ext cx="1123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109" lnSpcReduction="10000"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9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Conclusion: H₂ exposes the hardware gap; H₈ validates scalable measurement</a:t>
            </a: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57200" y="1314450"/>
            <a:ext cx="112776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457200" y="6419850"/>
            <a:ext cx="112776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496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776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r">
              <a:lnSpc>
                <a:spcPct val="100000"/>
              </a:lnSpc>
              <a:buNone/>
              <a:def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0" y="176212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714500" y="17811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 simulator</a:t>
            </a: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29125" y="1781175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energy error &lt;0.6 mHa, but programmed gate-noise parameters are zero</a:t>
            </a:r>
          </a:p>
        </p:txBody>
      </p:sp>
      <p:sp>
        <p:nvSpPr>
          <p:cNvPr id="10" name="直接连接符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66750" y="2676525"/>
            <a:ext cx="106680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66750" y="3143250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C83E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714500" y="31623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H₂ on Wukong</a:t>
            </a: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29125" y="3162300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severe leakage; post-selection and rank-1 projection still FAIL</a:t>
            </a:r>
          </a:p>
        </p:txBody>
      </p:sp>
      <p:sp>
        <p:nvSpPr>
          <p:cNvPr id="14" name="直接连接符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6750" y="4057650"/>
            <a:ext cx="10668000" cy="0"/>
          </a:xfrm>
          <a:prstGeom prst="line">
            <a:avLst/>
          </a:prstGeom>
          <a:noFill/>
          <a:ln w="9525">
            <a:solidFill>
              <a:srgbClr val="D5D8D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66750" y="4524375"/>
            <a:ext cx="85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714500" y="45434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H₈ simulator</a:t>
            </a: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29125" y="4543425"/>
            <a:ext cx="695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nine-setting 1-RDM PASS; random basis rotation has no molecular-energy claim</a:t>
            </a:r>
          </a:p>
        </p:txBody>
      </p:sp>
      <p:sp>
        <p:nvSpPr>
          <p:cNvPr id="20" name="v3-section-17"/>
          <p:cNvSpPr>
            <a:spLocks noGrp="1"/>
          </p:cNvSpPr>
          <p:nvPr/>
        </p:nvSpPr>
        <p:spPr>
          <a:xfrm>
            <a:off x="457200" y="238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PART IV · REPRODUCTION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.5,&quot;left&quot;:60,&quot;top&quot;:153.75,&quot;width&quot;:84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5,&quot;left&quot;:52.5,&quot;top&quot;:138.75,&quot;width&quot;:843.75}"/>
</p:tagLst>
</file>

<file path=ppt/tags/tag92.xml><?xml version="1.0" encoding="utf-8"?>
<p:tagLst xmlns:p="http://schemas.openxmlformats.org/presentationml/2006/main">
  <p:tag name="KSO_WM_DIAGRAM_VIRTUALLY_FRAME" val="{&quot;height&quot;:307.5,&quot;left&quot;:60,&quot;top&quot;:153.75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3499</Words>
  <Application>Microsoft Office PowerPoint</Application>
  <PresentationFormat>宽屏</PresentationFormat>
  <Paragraphs>540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DejaVu Sans Mono</vt:lpstr>
      <vt:lpstr>Latin Modern Math</vt:lpstr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胡宇宏_化学学院</dc:creator>
  <cp:lastModifiedBy>胡宇宏_化学学院</cp:lastModifiedBy>
  <cp:revision>1</cp:revision>
  <dcterms:created xsi:type="dcterms:W3CDTF">2026-07-30T17:08:01Z</dcterms:created>
  <dcterms:modified xsi:type="dcterms:W3CDTF">2026-07-30T17:11:53Z</dcterms:modified>
</cp:coreProperties>
</file>